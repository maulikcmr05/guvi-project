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charts/chart2.xml" ContentType="application/vnd.openxmlformats-officedocument.drawingml.chart+xml"/>
  <Override PartName="/ppt/notesSlides/notesSlide9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10.xml" ContentType="application/vnd.openxmlformats-officedocument.presentationml.notesSlide+xml"/>
  <Override PartName="/ppt/charts/chart5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6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71" r:id="rId6"/>
    <p:sldId id="260" r:id="rId7"/>
    <p:sldId id="272" r:id="rId8"/>
    <p:sldId id="261" r:id="rId9"/>
    <p:sldId id="273" r:id="rId10"/>
    <p:sldId id="262" r:id="rId11"/>
    <p:sldId id="263" r:id="rId12"/>
    <p:sldId id="264" r:id="rId13"/>
    <p:sldId id="274" r:id="rId14"/>
    <p:sldId id="265" r:id="rId15"/>
    <p:sldId id="266" r:id="rId16"/>
    <p:sldId id="267" r:id="rId17"/>
    <p:sldId id="268" r:id="rId18"/>
    <p:sldId id="269" r:id="rId19"/>
    <p:sldId id="270" r:id="rId2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100" y="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F2F6FA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F2F6FA"/>
                </a:solidFill>
                <a:latin typeface="Calibri"/>
              </a:rPr>
              <a:t>Heart disease rate by age group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Disease rate (%)</c:v>
                </c:pt>
              </c:strCache>
            </c:strRef>
          </c:tx>
          <c:spPr>
            <a:solidFill>
              <a:srgbClr val="5BB8FF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C265-45B6-97C3-09A09E01CBAE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C265-45B6-97C3-09A09E01CBAE}"/>
              </c:ext>
            </c:extLst>
          </c:dPt>
          <c:dPt>
            <c:idx val="2"/>
            <c:invertIfNegative val="0"/>
            <c:bubble3D val="0"/>
            <c:spPr>
              <a:solidFill>
                <a:srgbClr val="FFC85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C265-45B6-97C3-09A09E01CBAE}"/>
              </c:ext>
            </c:extLst>
          </c:dPt>
          <c:dPt>
            <c:idx val="3"/>
            <c:invertIfNegative val="0"/>
            <c:bubble3D val="0"/>
            <c:spPr>
              <a:solidFill>
                <a:srgbClr val="FF5D7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C265-45B6-97C3-09A09E01CBAE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F2F6FA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Under 40</c:v>
                </c:pt>
                <c:pt idx="1">
                  <c:v>40-49</c:v>
                </c:pt>
                <c:pt idx="2">
                  <c:v>50-59</c:v>
                </c:pt>
                <c:pt idx="3">
                  <c:v>60+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32.5</c:v>
                </c:pt>
                <c:pt idx="1">
                  <c:v>40.28</c:v>
                </c:pt>
                <c:pt idx="2">
                  <c:v>56.57</c:v>
                </c:pt>
                <c:pt idx="3">
                  <c:v>73.12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265-45B6-97C3-09A09E01CBA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FB0C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6350" cap="flat">
              <a:solidFill>
                <a:srgbClr val="1E324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FB0C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F2F6FA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F2F6FA"/>
                </a:solidFill>
                <a:latin typeface="Calibri"/>
              </a:rPr>
              <a:t>Heart disease rate by finding (%)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Disease rate (%)</c:v>
                </c:pt>
              </c:strCache>
            </c:strRef>
          </c:tx>
          <c:spPr>
            <a:solidFill>
              <a:srgbClr val="2DE2A6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3C5C-4081-9E59-0E01347695CA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3C5C-4081-9E59-0E01347695CA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3C5C-4081-9E59-0E01347695CA}"/>
              </c:ext>
            </c:extLst>
          </c:dPt>
          <c:dPt>
            <c:idx val="3"/>
            <c:invertIfNegative val="0"/>
            <c:bubble3D val="0"/>
            <c:spPr>
              <a:solidFill>
                <a:srgbClr val="FF5D7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3C5C-4081-9E59-0E01347695CA}"/>
              </c:ext>
            </c:extLst>
          </c:dPt>
          <c:dPt>
            <c:idx val="4"/>
            <c:invertIfNegative val="0"/>
            <c:bubble3D val="0"/>
            <c:spPr>
              <a:solidFill>
                <a:srgbClr val="FF5D7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3C5C-4081-9E59-0E01347695CA}"/>
              </c:ext>
            </c:extLst>
          </c:dPt>
          <c:dPt>
            <c:idx val="5"/>
            <c:invertIfNegative val="0"/>
            <c:bubble3D val="0"/>
            <c:spPr>
              <a:solidFill>
                <a:srgbClr val="FF5D7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3C5C-4081-9E59-0E01347695CA}"/>
              </c:ext>
            </c:extLst>
          </c:dPt>
          <c:dPt>
            <c:idx val="6"/>
            <c:invertIfNegative val="0"/>
            <c:bubble3D val="0"/>
            <c:spPr>
              <a:solidFill>
                <a:srgbClr val="FF5D7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3C5C-4081-9E59-0E01347695CA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F2F6FA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Chest pain: ATA</c:v>
                </c:pt>
                <c:pt idx="1">
                  <c:v>ST slope: Up</c:v>
                </c:pt>
                <c:pt idx="2">
                  <c:v>Exercise angina: No</c:v>
                </c:pt>
                <c:pt idx="3">
                  <c:v>ST slope: Down</c:v>
                </c:pt>
                <c:pt idx="4">
                  <c:v>Chest pain: ASY</c:v>
                </c:pt>
                <c:pt idx="5">
                  <c:v>ST slope: Flat</c:v>
                </c:pt>
                <c:pt idx="6">
                  <c:v>Exercise angina: Yes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13.87</c:v>
                </c:pt>
                <c:pt idx="1">
                  <c:v>19.75</c:v>
                </c:pt>
                <c:pt idx="2">
                  <c:v>34.979999999999997</c:v>
                </c:pt>
                <c:pt idx="3">
                  <c:v>77.78</c:v>
                </c:pt>
                <c:pt idx="4">
                  <c:v>79.03</c:v>
                </c:pt>
                <c:pt idx="5">
                  <c:v>82.79</c:v>
                </c:pt>
                <c:pt idx="6">
                  <c:v>85.18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3C5C-4081-9E59-0E01347695C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FB0C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1E324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FB0C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F2F6FA"/>
                </a:solidFill>
                <a:latin typeface="Calibri"/>
              </a:defRPr>
            </a:pPr>
            <a:r>
              <a:rPr lang="en-IN" sz="1200" b="0" i="0" u="none" strike="noStrike">
                <a:solidFill>
                  <a:srgbClr val="F2F6FA"/>
                </a:solidFill>
                <a:latin typeface="Calibri"/>
              </a:rPr>
              <a:t>Disease rate by cholesterol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5BB8F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F2F6FA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Normal</c:v>
                </c:pt>
                <c:pt idx="1">
                  <c:v>Borderline</c:v>
                </c:pt>
                <c:pt idx="2">
                  <c:v>High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39.04</c:v>
                </c:pt>
                <c:pt idx="1">
                  <c:v>63.48</c:v>
                </c:pt>
                <c:pt idx="2">
                  <c:v>52.62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43-407E-BD75-CE3608DFFF8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FB0C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1E324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FB0C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F2F6FA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F2F6FA"/>
                </a:solidFill>
                <a:latin typeface="Calibri"/>
              </a:rPr>
              <a:t>Disease rate by blood pressure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FFC857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F2F6FA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Normal</c:v>
                </c:pt>
                <c:pt idx="1">
                  <c:v>Elevated</c:v>
                </c:pt>
                <c:pt idx="2">
                  <c:v>High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54.37</c:v>
                </c:pt>
                <c:pt idx="1">
                  <c:v>50</c:v>
                </c:pt>
                <c:pt idx="2">
                  <c:v>62.69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A95-4F6A-82A3-825E00AA4E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FB0C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1E324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FB0C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F2F6FA"/>
                </a:solidFill>
                <a:latin typeface="Calibri"/>
              </a:defRPr>
            </a:pPr>
            <a:r>
              <a:rPr lang="en-IN" sz="1300" b="0" i="0" u="none" strike="noStrike">
                <a:solidFill>
                  <a:srgbClr val="F2F6FA"/>
                </a:solidFill>
                <a:latin typeface="Calibri"/>
              </a:rPr>
              <a:t>Test-set metrics (189 patients)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Logistic Regression</c:v>
                </c:pt>
              </c:strCache>
            </c:strRef>
          </c:tx>
          <c:spPr>
            <a:solidFill>
              <a:srgbClr val="5BB8FF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F2F6FA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AUC</c:v>
                </c:pt>
                <c:pt idx="1">
                  <c:v>Accuracy</c:v>
                </c:pt>
                <c:pt idx="2">
                  <c:v>Precision</c:v>
                </c:pt>
                <c:pt idx="3">
                  <c:v>Recall</c:v>
                </c:pt>
                <c:pt idx="4">
                  <c:v>F1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0.89639999999999997</c:v>
                </c:pt>
                <c:pt idx="1">
                  <c:v>0.81479999999999997</c:v>
                </c:pt>
                <c:pt idx="2">
                  <c:v>0.81810000000000005</c:v>
                </c:pt>
                <c:pt idx="3">
                  <c:v>0.81479999999999997</c:v>
                </c:pt>
                <c:pt idx="4">
                  <c:v>0.81369999999999998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6C9-46DB-A045-F761FD17F9F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Random Forest</c:v>
                </c:pt>
              </c:strCache>
            </c:strRef>
          </c:tx>
          <c:spPr>
            <a:solidFill>
              <a:srgbClr val="2DE2A6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F2F6FA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AUC</c:v>
                </c:pt>
                <c:pt idx="1">
                  <c:v>Accuracy</c:v>
                </c:pt>
                <c:pt idx="2">
                  <c:v>Precision</c:v>
                </c:pt>
                <c:pt idx="3">
                  <c:v>Recall</c:v>
                </c:pt>
                <c:pt idx="4">
                  <c:v>F1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0.9052</c:v>
                </c:pt>
                <c:pt idx="1">
                  <c:v>0.84660000000000002</c:v>
                </c:pt>
                <c:pt idx="2">
                  <c:v>0.84789999999999999</c:v>
                </c:pt>
                <c:pt idx="3">
                  <c:v>0.84660000000000002</c:v>
                </c:pt>
                <c:pt idx="4">
                  <c:v>0.84609999999999996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6C9-46DB-A045-F761FD17F9F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FB0C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.6"/>
        </c:scaling>
        <c:delete val="0"/>
        <c:axPos val="l"/>
        <c:majorGridlines>
          <c:spPr>
            <a:ln w="6350" cap="flat">
              <a:solidFill>
                <a:srgbClr val="1E324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FB0C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FB0C3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F2F6FA"/>
                </a:solidFill>
                <a:latin typeface="Calibri"/>
              </a:defRPr>
            </a:pPr>
            <a:r>
              <a:rPr lang="en-IN" sz="1300" b="0" i="0" u="none" strike="noStrike">
                <a:solidFill>
                  <a:srgbClr val="F2F6FA"/>
                </a:solidFill>
                <a:latin typeface="Calibri"/>
              </a:rPr>
              <a:t>Top 10 feature importances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</c:v>
                </c:pt>
              </c:strCache>
            </c:strRef>
          </c:tx>
          <c:spPr>
            <a:solidFill>
              <a:srgbClr val="5BB8FF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5BB8F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DB01-4EAA-9D13-5B461D012633}"/>
              </c:ext>
            </c:extLst>
          </c:dPt>
          <c:dPt>
            <c:idx val="1"/>
            <c:invertIfNegative val="0"/>
            <c:bubble3D val="0"/>
            <c:spPr>
              <a:solidFill>
                <a:srgbClr val="5BB8F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DB01-4EAA-9D13-5B461D012633}"/>
              </c:ext>
            </c:extLst>
          </c:dPt>
          <c:dPt>
            <c:idx val="2"/>
            <c:invertIfNegative val="0"/>
            <c:bubble3D val="0"/>
            <c:spPr>
              <a:solidFill>
                <a:srgbClr val="5BB8F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DB01-4EAA-9D13-5B461D012633}"/>
              </c:ext>
            </c:extLst>
          </c:dPt>
          <c:dPt>
            <c:idx val="3"/>
            <c:invertIfNegative val="0"/>
            <c:bubble3D val="0"/>
            <c:spPr>
              <a:solidFill>
                <a:srgbClr val="5BB8F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DB01-4EAA-9D13-5B461D012633}"/>
              </c:ext>
            </c:extLst>
          </c:dPt>
          <c:dPt>
            <c:idx val="4"/>
            <c:invertIfNegative val="0"/>
            <c:bubble3D val="0"/>
            <c:spPr>
              <a:solidFill>
                <a:srgbClr val="5BB8F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DB01-4EAA-9D13-5B461D012633}"/>
              </c:ext>
            </c:extLst>
          </c:dPt>
          <c:dPt>
            <c:idx val="5"/>
            <c:invertIfNegative val="0"/>
            <c:bubble3D val="0"/>
            <c:spPr>
              <a:solidFill>
                <a:srgbClr val="5BB8F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DB01-4EAA-9D13-5B461D012633}"/>
              </c:ext>
            </c:extLst>
          </c:dPt>
          <c:dPt>
            <c:idx val="6"/>
            <c:invertIfNegative val="0"/>
            <c:bubble3D val="0"/>
            <c:spPr>
              <a:solidFill>
                <a:srgbClr val="FFC85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DB01-4EAA-9D13-5B461D012633}"/>
              </c:ext>
            </c:extLst>
          </c:dPt>
          <c:dPt>
            <c:idx val="7"/>
            <c:invertIfNegative val="0"/>
            <c:bubble3D val="0"/>
            <c:spPr>
              <a:solidFill>
                <a:srgbClr val="FFC85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DB01-4EAA-9D13-5B461D012633}"/>
              </c:ext>
            </c:extLst>
          </c:dPt>
          <c:dPt>
            <c:idx val="8"/>
            <c:invertIfNegative val="0"/>
            <c:bubble3D val="0"/>
            <c:spPr>
              <a:solidFill>
                <a:srgbClr val="FF5D7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DB01-4EAA-9D13-5B461D012633}"/>
              </c:ext>
            </c:extLst>
          </c:dPt>
          <c:dPt>
            <c:idx val="9"/>
            <c:invertIfNegative val="0"/>
            <c:bubble3D val="0"/>
            <c:spPr>
              <a:solidFill>
                <a:srgbClr val="FF5D7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DB01-4EAA-9D13-5B461D012633}"/>
              </c:ext>
            </c:extLst>
          </c:dPt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F2F6FA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Chest pain ATA</c:v>
                </c:pt>
                <c:pt idx="1">
                  <c:v>Cholesterol</c:v>
                </c:pt>
                <c:pt idx="2">
                  <c:v>Age</c:v>
                </c:pt>
                <c:pt idx="3">
                  <c:v>Max HR</c:v>
                </c:pt>
                <c:pt idx="4">
                  <c:v>Exercise angina N</c:v>
                </c:pt>
                <c:pt idx="5">
                  <c:v>Exercise angina Y</c:v>
                </c:pt>
                <c:pt idx="6">
                  <c:v>Oldpeak</c:v>
                </c:pt>
                <c:pt idx="7">
                  <c:v>Chest pain ASY</c:v>
                </c:pt>
                <c:pt idx="8">
                  <c:v>ST slope Flat</c:v>
                </c:pt>
                <c:pt idx="9">
                  <c:v>ST slope Up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2.69E-2</c:v>
                </c:pt>
                <c:pt idx="1">
                  <c:v>2.8400000000000002E-2</c:v>
                </c:pt>
                <c:pt idx="2">
                  <c:v>5.0599999999999999E-2</c:v>
                </c:pt>
                <c:pt idx="3">
                  <c:v>5.5800000000000002E-2</c:v>
                </c:pt>
                <c:pt idx="4">
                  <c:v>7.0800000000000002E-2</c:v>
                </c:pt>
                <c:pt idx="5">
                  <c:v>8.1799999999999998E-2</c:v>
                </c:pt>
                <c:pt idx="6">
                  <c:v>8.1900000000000001E-2</c:v>
                </c:pt>
                <c:pt idx="7">
                  <c:v>0.1181</c:v>
                </c:pt>
                <c:pt idx="8">
                  <c:v>0.13830000000000001</c:v>
                </c:pt>
                <c:pt idx="9">
                  <c:v>0.21870000000000001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DB01-4EAA-9D13-5B461D01263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FB0C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28000000000000003"/>
          <c:min val="0"/>
        </c:scaling>
        <c:delete val="0"/>
        <c:axPos val="b"/>
        <c:majorGridlines>
          <c:spPr>
            <a:ln w="6350" cap="flat">
              <a:solidFill>
                <a:srgbClr val="1E324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FB0C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064982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project: a Big Data pipeline that stores patient records in HDFS, analyses them with Hive and Spark, and predicts heart disease with Spark MLlib.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Hospitals hold large volumes of patient data but high-risk patients are often found late. Link each finding to a business action. Insights are associations, not diagnosis.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Kaggle Heart Failure Prediction (UCI sources), 918 rows, 12 columns. Zero cholesterol and zero resting BP are physiologically impossible. Raw 918 -&gt; clean 917.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 to right: CSV into HDFS zones, then three consumers. YARN allocates resources. Same pipeline scales to millions of records.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HDFS: NameNode holds metadata, DataNodes hold blocks; separate zones. Hive: external table points at the directory, header skipped.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Transformations are lazy; actions like count() trigger execution. cache() helps because the cleaned DataFrame is reused.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Overall 507 of 917 (55.29%). 32.5% under 40 to 73.12% at 60+. Men 63.12% vs women 25.91%; data is ~79% male so treat sex gap as association.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Exercise angina 85.18%, flat ST slope 82.79%, asymptomatic chest pain 79.03%. Low-risk: upsloping ST 19.75%, atypical angina 13.87%.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Imputed cholesterol median (237) falls inside Borderline, inflating that group. BP does not rise cleanly.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models use the same Spark ML Pipeline. RF AUC 0.9052, accuracy 0.8466, F1 0.8461. LR AUC 0.8964, accuracy 0.8148. Weighted recall equals accuracy in Spark.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screening, recall on disease matters more than accuracy. RF found 88 of 99 and missed 11; LR found 87 and missed 12, with 23 false alarms vs 18.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and the Hive/Spark analytics agree on the drivers: ST slope, asymptomatic chest pain, exercise angina.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HBase stores predicted risk by row key. P0004 is a real missed case from the test set. Keys are demo IDs: dataset has no patient 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Analytics and model agree: flat or down ST slope, asymptomatic chest pain, exercise angina, older age and male sex are most associated with disease. Be honest about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the audience.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DE2A6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9FB0C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9FB0C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914400"/>
            <a:ext cx="8046720" cy="1005840"/>
          </a:xfrm>
          <a:custGeom>
            <a:avLst/>
            <a:gdLst/>
            <a:ahLst/>
            <a:cxnLst/>
            <a:rect l="l" t="t" r="r" b="b"/>
            <a:pathLst>
              <a:path w="8046720" h="1005840">
                <a:moveTo>
                  <a:pt x="0" y="502920"/>
                </a:moveTo>
                <a:lnTo>
                  <a:pt x="1448410" y="502920"/>
                </a:lnTo>
                <a:lnTo>
                  <a:pt x="1931213" y="452628"/>
                </a:lnTo>
                <a:lnTo>
                  <a:pt x="2414016" y="502920"/>
                </a:lnTo>
                <a:lnTo>
                  <a:pt x="3218688" y="502920"/>
                </a:lnTo>
                <a:lnTo>
                  <a:pt x="3540557" y="623621"/>
                </a:lnTo>
                <a:lnTo>
                  <a:pt x="4023360" y="0"/>
                </a:lnTo>
                <a:lnTo>
                  <a:pt x="4506163" y="1005840"/>
                </a:lnTo>
                <a:lnTo>
                  <a:pt x="4908499" y="502920"/>
                </a:lnTo>
                <a:lnTo>
                  <a:pt x="5793638" y="502920"/>
                </a:lnTo>
                <a:lnTo>
                  <a:pt x="6437376" y="352044"/>
                </a:lnTo>
                <a:lnTo>
                  <a:pt x="7242048" y="502920"/>
                </a:lnTo>
                <a:lnTo>
                  <a:pt x="8046720" y="502920"/>
                </a:lnTo>
              </a:path>
            </a:pathLst>
          </a:custGeom>
          <a:ln w="31750">
            <a:solidFill>
              <a:srgbClr val="2DE2A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DE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ANALYTICS CAPSTONE  ·  HCL GUVI × JAIN UNIVERSITY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1168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F2F6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Healthcare Analytics &amp; Disease Prediction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089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FFC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Disease Risk Analytics Pipeline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5204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HDFS  ·  Hive  ·  Spark MLlib  ·  YARN  ·  HBase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931920"/>
            <a:ext cx="8046720" cy="0"/>
          </a:xfrm>
          <a:prstGeom prst="line">
            <a:avLst/>
          </a:prstGeom>
          <a:noFill/>
          <a:ln w="12700">
            <a:solidFill>
              <a:srgbClr val="24405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40690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48408" y="4343398"/>
            <a:ext cx="8146951" cy="496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b="1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Himani   ·   Akash   ·   Anshuman   ·   Aditya   ·   Maulik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9FB0C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2DE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F2F6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heart disease risk analytics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315200" y="274320"/>
            <a:ext cx="1417320" cy="411480"/>
          </a:xfrm>
          <a:custGeom>
            <a:avLst/>
            <a:gdLst/>
            <a:ahLst/>
            <a:cxnLst/>
            <a:rect l="l" t="t" r="r" b="b"/>
            <a:pathLst>
              <a:path w="1417320" h="411480">
                <a:moveTo>
                  <a:pt x="0" y="205740"/>
                </a:moveTo>
                <a:lnTo>
                  <a:pt x="255118" y="205740"/>
                </a:lnTo>
                <a:lnTo>
                  <a:pt x="340157" y="185166"/>
                </a:lnTo>
                <a:lnTo>
                  <a:pt x="425196" y="205740"/>
                </a:lnTo>
                <a:lnTo>
                  <a:pt x="566928" y="205740"/>
                </a:lnTo>
                <a:lnTo>
                  <a:pt x="623621" y="255118"/>
                </a:lnTo>
                <a:lnTo>
                  <a:pt x="708660" y="0"/>
                </a:lnTo>
                <a:lnTo>
                  <a:pt x="793699" y="411480"/>
                </a:lnTo>
                <a:lnTo>
                  <a:pt x="864565" y="205740"/>
                </a:lnTo>
                <a:lnTo>
                  <a:pt x="1020470" y="205740"/>
                </a:lnTo>
                <a:lnTo>
                  <a:pt x="1133856" y="144018"/>
                </a:lnTo>
                <a:lnTo>
                  <a:pt x="1275588" y="205740"/>
                </a:lnTo>
                <a:lnTo>
                  <a:pt x="1417320" y="205740"/>
                </a:lnTo>
              </a:path>
            </a:pathLst>
          </a:custGeom>
          <a:ln w="15875">
            <a:solidFill>
              <a:srgbClr val="2DE2A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234440"/>
            <a:ext cx="3931920" cy="160020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FF5D73"/>
          </a:solidFill>
          <a:ln w="12700">
            <a:solidFill>
              <a:srgbClr val="FF5D7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137160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5D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164592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Hospitals hold huge volumes of patient records, yet high-risk patients are often found late. Cardiovascular disease is a leading cause of death worldwide.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7200" y="3017520"/>
            <a:ext cx="3931920" cy="160020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2DE2A6"/>
          </a:solidFill>
          <a:ln w="12700">
            <a:solidFill>
              <a:srgbClr val="2DE2A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315468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DE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OBJECTIVE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342900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Store, analyse and model patient data at scale to find risk factors and flag high-risk patients early.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4663440" y="123444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C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RESULTS SUPPORT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663440" y="1554480"/>
            <a:ext cx="4023360" cy="658368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663440" y="1554480"/>
            <a:ext cx="54864" cy="658368"/>
          </a:xfrm>
          <a:prstGeom prst="rect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92040" y="16459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High-risk age / sex groups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892040" y="1901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Prioritise screening campaigns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663440" y="2322576"/>
            <a:ext cx="4023360" cy="658368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663440" y="2322576"/>
            <a:ext cx="54864" cy="658368"/>
          </a:xfrm>
          <a:prstGeom prst="rect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892040" y="241401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symptom indicators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4892040" y="26700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triage checklists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663440" y="3090672"/>
            <a:ext cx="4023360" cy="658368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663440" y="3090672"/>
            <a:ext cx="54864" cy="658368"/>
          </a:xfrm>
          <a:prstGeom prst="rect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92040" y="31821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predictive features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4892040" y="343814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data collection on key tests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663440" y="3858768"/>
            <a:ext cx="4023360" cy="658368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663440" y="3858768"/>
            <a:ext cx="54864" cy="658368"/>
          </a:xfrm>
          <a:prstGeom prst="rect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892040" y="39502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high-risk patients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4892040" y="42062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 to cardiology follow-up</a:t>
            </a:r>
            <a:endParaRPr lang="en-US" sz="1200" dirty="0"/>
          </a:p>
        </p:txBody>
      </p:sp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9FB0C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2DE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F2F6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Dataset and data quality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315200" y="274320"/>
            <a:ext cx="1417320" cy="411480"/>
          </a:xfrm>
          <a:custGeom>
            <a:avLst/>
            <a:gdLst/>
            <a:ahLst/>
            <a:cxnLst/>
            <a:rect l="l" t="t" r="r" b="b"/>
            <a:pathLst>
              <a:path w="1417320" h="411480">
                <a:moveTo>
                  <a:pt x="0" y="205740"/>
                </a:moveTo>
                <a:lnTo>
                  <a:pt x="255118" y="205740"/>
                </a:lnTo>
                <a:lnTo>
                  <a:pt x="340157" y="185166"/>
                </a:lnTo>
                <a:lnTo>
                  <a:pt x="425196" y="205740"/>
                </a:lnTo>
                <a:lnTo>
                  <a:pt x="566928" y="205740"/>
                </a:lnTo>
                <a:lnTo>
                  <a:pt x="623621" y="255118"/>
                </a:lnTo>
                <a:lnTo>
                  <a:pt x="708660" y="0"/>
                </a:lnTo>
                <a:lnTo>
                  <a:pt x="793699" y="411480"/>
                </a:lnTo>
                <a:lnTo>
                  <a:pt x="864565" y="205740"/>
                </a:lnTo>
                <a:lnTo>
                  <a:pt x="1020470" y="205740"/>
                </a:lnTo>
                <a:lnTo>
                  <a:pt x="1133856" y="144018"/>
                </a:lnTo>
                <a:lnTo>
                  <a:pt x="1275588" y="205740"/>
                </a:lnTo>
                <a:lnTo>
                  <a:pt x="1417320" y="205740"/>
                </a:lnTo>
              </a:path>
            </a:pathLst>
          </a:custGeom>
          <a:ln w="15875">
            <a:solidFill>
              <a:srgbClr val="2DE2A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234440"/>
            <a:ext cx="1920240" cy="91440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57200" y="1234440"/>
            <a:ext cx="54864" cy="914400"/>
          </a:xfrm>
          <a:prstGeom prst="rect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3258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5BB8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918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180136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patient records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514600" y="1234440"/>
            <a:ext cx="1920240" cy="91440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14600" y="1234440"/>
            <a:ext cx="54864" cy="914400"/>
          </a:xfrm>
          <a:prstGeom prst="rect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697480" y="13258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5BB8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2697480" y="180136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0" y="1234440"/>
            <a:ext cx="1920240" cy="91440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572000" y="1234440"/>
            <a:ext cx="54864" cy="914400"/>
          </a:xfrm>
          <a:prstGeom prst="rect">
            <a:avLst/>
          </a:prstGeom>
          <a:solidFill>
            <a:srgbClr val="2DE2A6"/>
          </a:solidFill>
          <a:ln w="12700">
            <a:solidFill>
              <a:srgbClr val="2DE2A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4880" y="13258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DE2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917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4754880" y="180136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after cleaning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629400" y="1234440"/>
            <a:ext cx="2057400" cy="91440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629400" y="1234440"/>
            <a:ext cx="54864" cy="914400"/>
          </a:xfrm>
          <a:prstGeom prst="rect">
            <a:avLst/>
          </a:prstGeom>
          <a:solidFill>
            <a:srgbClr val="FF5D73"/>
          </a:solidFill>
          <a:ln w="12700">
            <a:solidFill>
              <a:srgbClr val="FF5D7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12280" y="132588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5D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55.29%</a:t>
            </a:r>
            <a:endParaRPr lang="en-US" sz="2600" dirty="0"/>
          </a:p>
        </p:txBody>
      </p:sp>
      <p:sp>
        <p:nvSpPr>
          <p:cNvPr id="21" name="Text 18"/>
          <p:cNvSpPr txBox="1"/>
          <p:nvPr/>
        </p:nvSpPr>
        <p:spPr>
          <a:xfrm>
            <a:off x="6812280" y="1801368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heart disease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2377440"/>
            <a:ext cx="4114800" cy="224028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2377440"/>
            <a:ext cx="54864" cy="2240280"/>
          </a:xfrm>
          <a:prstGeom prst="rect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5800" y="248716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C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DATA-QUALITY ISSUES HANDLED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" y="2788920"/>
            <a:ext cx="3749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Cholesterol = 0 is impossible: imputed with median 237.0 and flagged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RestingBP = 0: one record removed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Duplicates checked and dropped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754880" y="2377440"/>
            <a:ext cx="3931920" cy="224028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754880" y="2377440"/>
            <a:ext cx="54864" cy="2240280"/>
          </a:xfrm>
          <a:prstGeom prst="rect">
            <a:avLst/>
          </a:prstGeom>
          <a:solidFill>
            <a:srgbClr val="2DE2A6"/>
          </a:solidFill>
          <a:ln w="12700">
            <a:solidFill>
              <a:srgbClr val="2DE2A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983480" y="248716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DE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AND TARGET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983480" y="2788920"/>
            <a:ext cx="3566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features: 6 numeric, 5 categorical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HeartDisease: 1 = disease, 0 = normal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Kaggle / UCI file heart.csv</a:t>
            </a:r>
            <a:endParaRPr lang="en-US" sz="1300" dirty="0"/>
          </a:p>
        </p:txBody>
      </p:sp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9FB0C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2DE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F2F6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End-to-end Big Data architecture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315200" y="274320"/>
            <a:ext cx="1417320" cy="411480"/>
          </a:xfrm>
          <a:custGeom>
            <a:avLst/>
            <a:gdLst/>
            <a:ahLst/>
            <a:cxnLst/>
            <a:rect l="l" t="t" r="r" b="b"/>
            <a:pathLst>
              <a:path w="1417320" h="411480">
                <a:moveTo>
                  <a:pt x="0" y="205740"/>
                </a:moveTo>
                <a:lnTo>
                  <a:pt x="255118" y="205740"/>
                </a:lnTo>
                <a:lnTo>
                  <a:pt x="340157" y="185166"/>
                </a:lnTo>
                <a:lnTo>
                  <a:pt x="425196" y="205740"/>
                </a:lnTo>
                <a:lnTo>
                  <a:pt x="566928" y="205740"/>
                </a:lnTo>
                <a:lnTo>
                  <a:pt x="623621" y="255118"/>
                </a:lnTo>
                <a:lnTo>
                  <a:pt x="708660" y="0"/>
                </a:lnTo>
                <a:lnTo>
                  <a:pt x="793699" y="411480"/>
                </a:lnTo>
                <a:lnTo>
                  <a:pt x="864565" y="205740"/>
                </a:lnTo>
                <a:lnTo>
                  <a:pt x="1020470" y="205740"/>
                </a:lnTo>
                <a:lnTo>
                  <a:pt x="1133856" y="144018"/>
                </a:lnTo>
                <a:lnTo>
                  <a:pt x="1275588" y="205740"/>
                </a:lnTo>
                <a:lnTo>
                  <a:pt x="1417320" y="205740"/>
                </a:lnTo>
              </a:path>
            </a:pathLst>
          </a:custGeom>
          <a:ln w="15875">
            <a:solidFill>
              <a:srgbClr val="2DE2A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2103120"/>
            <a:ext cx="1737360" cy="100584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57200" y="2103120"/>
            <a:ext cx="54864" cy="1005840"/>
          </a:xfrm>
          <a:prstGeom prst="rect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2194560"/>
            <a:ext cx="146304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BB8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heart.csv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626157"/>
            <a:ext cx="146304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records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743200" y="2103120"/>
            <a:ext cx="1828800" cy="100584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743200" y="2103120"/>
            <a:ext cx="54864" cy="1005840"/>
          </a:xfrm>
          <a:prstGeom prst="rect">
            <a:avLst/>
          </a:prstGeom>
          <a:solidFill>
            <a:srgbClr val="2DE2A6"/>
          </a:solidFill>
          <a:ln w="12700">
            <a:solidFill>
              <a:srgbClr val="2DE2A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26080" y="2194560"/>
            <a:ext cx="155448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E2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HDFS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2926080" y="2626157"/>
            <a:ext cx="155448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raw/  processed/  results/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212080" y="1234440"/>
            <a:ext cx="1828800" cy="91440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212080" y="1234440"/>
            <a:ext cx="54864" cy="914400"/>
          </a:xfrm>
          <a:prstGeom prst="rect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394960" y="13258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C8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Hive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394960" y="170992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analytics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212080" y="2331720"/>
            <a:ext cx="1828800" cy="91440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212080" y="2331720"/>
            <a:ext cx="54864" cy="914400"/>
          </a:xfrm>
          <a:prstGeom prst="rect">
            <a:avLst/>
          </a:prstGeom>
          <a:solidFill>
            <a:srgbClr val="FF5D73"/>
          </a:solidFill>
          <a:ln w="12700">
            <a:solidFill>
              <a:srgbClr val="FF5D7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394960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5D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Spark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5394960" y="280720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PySpark: clean, analyse, MLlib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212080" y="3429000"/>
            <a:ext cx="1828800" cy="91440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212080" y="3429000"/>
            <a:ext cx="54864" cy="914400"/>
          </a:xfrm>
          <a:prstGeom prst="rect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394960" y="35204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BB8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HBase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5394960" y="390448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risk-score lookup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7406640" y="2331720"/>
            <a:ext cx="1371600" cy="91440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06640" y="2331720"/>
            <a:ext cx="54864" cy="914400"/>
          </a:xfrm>
          <a:prstGeom prst="rect">
            <a:avLst/>
          </a:prstGeom>
          <a:solidFill>
            <a:srgbClr val="2DE2A6"/>
          </a:solidFill>
          <a:ln w="12700">
            <a:solidFill>
              <a:srgbClr val="2DE2A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589520" y="24231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E2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Results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7589520" y="2807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 + metrics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2194560" y="2606040"/>
            <a:ext cx="548640" cy="0"/>
          </a:xfrm>
          <a:prstGeom prst="line">
            <a:avLst/>
          </a:prstGeom>
          <a:noFill/>
          <a:ln w="19050">
            <a:solidFill>
              <a:srgbClr val="9FB0C3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 flipV="1">
            <a:off x="4572000" y="1691640"/>
            <a:ext cx="640080" cy="914400"/>
          </a:xfrm>
          <a:prstGeom prst="line">
            <a:avLst/>
          </a:prstGeom>
          <a:noFill/>
          <a:ln w="19050">
            <a:solidFill>
              <a:srgbClr val="9FB0C3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4572000" y="2606040"/>
            <a:ext cx="640080" cy="182880"/>
          </a:xfrm>
          <a:prstGeom prst="line">
            <a:avLst/>
          </a:prstGeom>
          <a:noFill/>
          <a:ln w="19050">
            <a:solidFill>
              <a:srgbClr val="9FB0C3"/>
            </a:solidFill>
            <a:prstDash val="solid"/>
            <a:tailEnd type="triangle"/>
          </a:ln>
        </p:spPr>
      </p:sp>
      <p:sp>
        <p:nvSpPr>
          <p:cNvPr id="33" name="Shape 30"/>
          <p:cNvSpPr/>
          <p:nvPr/>
        </p:nvSpPr>
        <p:spPr>
          <a:xfrm>
            <a:off x="4572000" y="2606040"/>
            <a:ext cx="640080" cy="1280160"/>
          </a:xfrm>
          <a:prstGeom prst="line">
            <a:avLst/>
          </a:prstGeom>
          <a:noFill/>
          <a:ln w="19050">
            <a:solidFill>
              <a:srgbClr val="9FB0C3"/>
            </a:solidFill>
            <a:prstDash val="solid"/>
            <a:tailEnd type="triangle"/>
          </a:ln>
        </p:spPr>
      </p:sp>
      <p:sp>
        <p:nvSpPr>
          <p:cNvPr id="34" name="Shape 31"/>
          <p:cNvSpPr/>
          <p:nvPr/>
        </p:nvSpPr>
        <p:spPr>
          <a:xfrm>
            <a:off x="7040880" y="2788920"/>
            <a:ext cx="365760" cy="0"/>
          </a:xfrm>
          <a:prstGeom prst="line">
            <a:avLst/>
          </a:prstGeom>
          <a:noFill/>
          <a:ln w="19050">
            <a:solidFill>
              <a:srgbClr val="9FB0C3"/>
            </a:solidFill>
            <a:prstDash val="solid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457200" y="4434840"/>
            <a:ext cx="7772400" cy="54864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40080" y="4434840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YARN manages cluster resources. Built to scale: same pipeline for millions of records using Parquet, Hive partitions and more Spark workers.</a:t>
            </a:r>
            <a:endParaRPr lang="en-US" sz="1200" dirty="0"/>
          </a:p>
        </p:txBody>
      </p:sp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9FB0C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2DE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 ·  ENVIRONMENT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F2F6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Big Data stack running in Docker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315200" y="274320"/>
            <a:ext cx="1417320" cy="411480"/>
          </a:xfrm>
          <a:custGeom>
            <a:avLst/>
            <a:gdLst/>
            <a:ahLst/>
            <a:cxnLst/>
            <a:rect l="l" t="t" r="r" b="b"/>
            <a:pathLst>
              <a:path w="1417320" h="411480">
                <a:moveTo>
                  <a:pt x="0" y="205740"/>
                </a:moveTo>
                <a:lnTo>
                  <a:pt x="255118" y="205740"/>
                </a:lnTo>
                <a:lnTo>
                  <a:pt x="340157" y="185166"/>
                </a:lnTo>
                <a:lnTo>
                  <a:pt x="425196" y="205740"/>
                </a:lnTo>
                <a:lnTo>
                  <a:pt x="566928" y="205740"/>
                </a:lnTo>
                <a:lnTo>
                  <a:pt x="623621" y="255118"/>
                </a:lnTo>
                <a:lnTo>
                  <a:pt x="708660" y="0"/>
                </a:lnTo>
                <a:lnTo>
                  <a:pt x="793699" y="411480"/>
                </a:lnTo>
                <a:lnTo>
                  <a:pt x="864565" y="205740"/>
                </a:lnTo>
                <a:lnTo>
                  <a:pt x="1020470" y="205740"/>
                </a:lnTo>
                <a:lnTo>
                  <a:pt x="1133856" y="144018"/>
                </a:lnTo>
                <a:lnTo>
                  <a:pt x="1275588" y="205740"/>
                </a:lnTo>
                <a:lnTo>
                  <a:pt x="1417320" y="205740"/>
                </a:lnTo>
              </a:path>
            </a:pathLst>
          </a:custGeom>
          <a:ln w="15875">
            <a:solidFill>
              <a:srgbClr val="2DE2A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9FB0C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457200" y="1188720"/>
            <a:ext cx="5577840" cy="347472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pic>
        <p:nvPicPr>
          <p:cNvPr id="26" name="Picture 25" descr="1791223212709_Screenshot_2026-10-05_233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563159"/>
            <a:ext cx="5431536" cy="2725842"/>
          </a:xfrm>
          <a:prstGeom prst="rect">
            <a:avLst/>
          </a:prstGeom>
          <a:ln w="9525">
            <a:solidFill>
              <a:srgbClr val="24405E"/>
            </a:solidFill>
          </a:ln>
        </p:spPr>
      </p:pic>
      <p:sp>
        <p:nvSpPr>
          <p:cNvPr id="8" name="Shape 4"/>
          <p:cNvSpPr/>
          <p:nvPr/>
        </p:nvSpPr>
        <p:spPr>
          <a:xfrm>
            <a:off x="6172200" y="1188720"/>
            <a:ext cx="2514600" cy="347472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6172200" y="1188720"/>
            <a:ext cx="54864" cy="3474720"/>
          </a:xfrm>
          <a:prstGeom prst="rect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400800" y="132588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C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6400800" y="1691720"/>
            <a:ext cx="2057400" cy="283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bigdata with 13 containers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Green: Jupyter, Spark master and worker, HBase, Hive, YARN, DataNode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pig is stopped (not used in this run)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2DE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&amp; SQL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F2F6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HDFS storage and Hive SQL layer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315200" y="274320"/>
            <a:ext cx="1417320" cy="411480"/>
          </a:xfrm>
          <a:custGeom>
            <a:avLst/>
            <a:gdLst/>
            <a:ahLst/>
            <a:cxnLst/>
            <a:rect l="l" t="t" r="r" b="b"/>
            <a:pathLst>
              <a:path w="1417320" h="411480">
                <a:moveTo>
                  <a:pt x="0" y="205740"/>
                </a:moveTo>
                <a:lnTo>
                  <a:pt x="255118" y="205740"/>
                </a:lnTo>
                <a:lnTo>
                  <a:pt x="340157" y="185166"/>
                </a:lnTo>
                <a:lnTo>
                  <a:pt x="425196" y="205740"/>
                </a:lnTo>
                <a:lnTo>
                  <a:pt x="566928" y="205740"/>
                </a:lnTo>
                <a:lnTo>
                  <a:pt x="623621" y="255118"/>
                </a:lnTo>
                <a:lnTo>
                  <a:pt x="708660" y="0"/>
                </a:lnTo>
                <a:lnTo>
                  <a:pt x="793699" y="411480"/>
                </a:lnTo>
                <a:lnTo>
                  <a:pt x="864565" y="205740"/>
                </a:lnTo>
                <a:lnTo>
                  <a:pt x="1020470" y="205740"/>
                </a:lnTo>
                <a:lnTo>
                  <a:pt x="1133856" y="144018"/>
                </a:lnTo>
                <a:lnTo>
                  <a:pt x="1275588" y="205740"/>
                </a:lnTo>
                <a:lnTo>
                  <a:pt x="1417320" y="205740"/>
                </a:lnTo>
              </a:path>
            </a:pathLst>
          </a:custGeom>
          <a:ln w="15875">
            <a:solidFill>
              <a:srgbClr val="2DE2A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234440"/>
            <a:ext cx="4023360" cy="338328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57200" y="1234440"/>
            <a:ext cx="54864" cy="3383280"/>
          </a:xfrm>
          <a:prstGeom prst="rect">
            <a:avLst/>
          </a:prstGeom>
          <a:solidFill>
            <a:srgbClr val="2DE2A6"/>
          </a:solidFill>
          <a:ln w="12700">
            <a:solidFill>
              <a:srgbClr val="2DE2A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1371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DE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HDFS: DISTRIBUTED STORAGE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169164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C8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/data/healthcare/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C8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raw/         heart.csv (35.9 kB)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C8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processed/   heart_clean (Parquet)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C8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results/     rate_by_*, rf_predictions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288036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with docker cp, then hdfs dfs -put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with -ls, -du and fsck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zones for raw, cleaned and output data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663440" y="1234440"/>
            <a:ext cx="4023360" cy="338328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663440" y="1234440"/>
            <a:ext cx="54864" cy="3383280"/>
          </a:xfrm>
          <a:prstGeom prst="rect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892040" y="1371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C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HIVE: SQL OVER THE SAME FILES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892040" y="1691640"/>
            <a:ext cx="36576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table on /data/healthcare/raw (schema-on-read, header skipped)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queries: prevalence, rates by sex, age, chest pain, angina x ST slope, zero-value checks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function: RANK() OVER (PARTITION BY sex)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saved as managed table chest_pain_summary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9FB0C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2DE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 ·  HDFS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F2F6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HDFS load verified in the terminal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315200" y="274320"/>
            <a:ext cx="1417320" cy="411480"/>
          </a:xfrm>
          <a:custGeom>
            <a:avLst/>
            <a:gdLst/>
            <a:ahLst/>
            <a:cxnLst/>
            <a:rect l="l" t="t" r="r" b="b"/>
            <a:pathLst>
              <a:path w="1417320" h="411480">
                <a:moveTo>
                  <a:pt x="0" y="205740"/>
                </a:moveTo>
                <a:lnTo>
                  <a:pt x="255118" y="205740"/>
                </a:lnTo>
                <a:lnTo>
                  <a:pt x="340157" y="185166"/>
                </a:lnTo>
                <a:lnTo>
                  <a:pt x="425196" y="205740"/>
                </a:lnTo>
                <a:lnTo>
                  <a:pt x="566928" y="205740"/>
                </a:lnTo>
                <a:lnTo>
                  <a:pt x="623621" y="255118"/>
                </a:lnTo>
                <a:lnTo>
                  <a:pt x="708660" y="0"/>
                </a:lnTo>
                <a:lnTo>
                  <a:pt x="793699" y="411480"/>
                </a:lnTo>
                <a:lnTo>
                  <a:pt x="864565" y="205740"/>
                </a:lnTo>
                <a:lnTo>
                  <a:pt x="1020470" y="205740"/>
                </a:lnTo>
                <a:lnTo>
                  <a:pt x="1133856" y="144018"/>
                </a:lnTo>
                <a:lnTo>
                  <a:pt x="1275588" y="205740"/>
                </a:lnTo>
                <a:lnTo>
                  <a:pt x="1417320" y="205740"/>
                </a:lnTo>
              </a:path>
            </a:pathLst>
          </a:custGeom>
          <a:ln w="15875">
            <a:solidFill>
              <a:srgbClr val="2DE2A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9FB0C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457200" y="1188720"/>
            <a:ext cx="8229600" cy="165184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pic>
        <p:nvPicPr>
          <p:cNvPr id="26" name="Picture 25" descr="1791282626423_Screenshot_2026-10-06_160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3" y="1261872"/>
            <a:ext cx="8083294" cy="1505536"/>
          </a:xfrm>
          <a:prstGeom prst="rect">
            <a:avLst/>
          </a:prstGeom>
          <a:ln w="9525">
            <a:solidFill>
              <a:srgbClr val="24405E"/>
            </a:solidFill>
          </a:ln>
        </p:spPr>
      </p:pic>
      <p:sp>
        <p:nvSpPr>
          <p:cNvPr id="8" name="Shape 4"/>
          <p:cNvSpPr/>
          <p:nvPr/>
        </p:nvSpPr>
        <p:spPr>
          <a:xfrm>
            <a:off x="457200" y="2977720"/>
            <a:ext cx="8229600" cy="168572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457200" y="2977720"/>
            <a:ext cx="54864" cy="1685720"/>
          </a:xfrm>
          <a:prstGeom prst="rect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311488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C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480720"/>
            <a:ext cx="7772400" cy="1045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cp copied the dataset (35.9 kB) into the namenode container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Hadoop 3.2.1 hdfs created /data/healthcare/raw; put reported File exists, so it was already loaded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-ls lists heart.csv, 35,921 bytes, in /data/healthcare/raw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2DE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F2F6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Spark: clean, derive, analyse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315200" y="274320"/>
            <a:ext cx="1417320" cy="411480"/>
          </a:xfrm>
          <a:custGeom>
            <a:avLst/>
            <a:gdLst/>
            <a:ahLst/>
            <a:cxnLst/>
            <a:rect l="l" t="t" r="r" b="b"/>
            <a:pathLst>
              <a:path w="1417320" h="411480">
                <a:moveTo>
                  <a:pt x="0" y="205740"/>
                </a:moveTo>
                <a:lnTo>
                  <a:pt x="255118" y="205740"/>
                </a:lnTo>
                <a:lnTo>
                  <a:pt x="340157" y="185166"/>
                </a:lnTo>
                <a:lnTo>
                  <a:pt x="425196" y="205740"/>
                </a:lnTo>
                <a:lnTo>
                  <a:pt x="566928" y="205740"/>
                </a:lnTo>
                <a:lnTo>
                  <a:pt x="623621" y="255118"/>
                </a:lnTo>
                <a:lnTo>
                  <a:pt x="708660" y="0"/>
                </a:lnTo>
                <a:lnTo>
                  <a:pt x="793699" y="411480"/>
                </a:lnTo>
                <a:lnTo>
                  <a:pt x="864565" y="205740"/>
                </a:lnTo>
                <a:lnTo>
                  <a:pt x="1020470" y="205740"/>
                </a:lnTo>
                <a:lnTo>
                  <a:pt x="1133856" y="144018"/>
                </a:lnTo>
                <a:lnTo>
                  <a:pt x="1275588" y="205740"/>
                </a:lnTo>
                <a:lnTo>
                  <a:pt x="1417320" y="205740"/>
                </a:lnTo>
              </a:path>
            </a:pathLst>
          </a:custGeom>
          <a:ln w="15875">
            <a:solidFill>
              <a:srgbClr val="2DE2A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325880"/>
            <a:ext cx="1554480" cy="233172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57200" y="1325880"/>
            <a:ext cx="54864" cy="2331720"/>
          </a:xfrm>
          <a:prstGeom prst="rect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" y="14173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5BB8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&amp; profile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21792" y="2194560"/>
            <a:ext cx="1325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from hdfs://namenode:8020 with inferSchema; null, duplicate, zero checks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121408" y="1325880"/>
            <a:ext cx="1554480" cy="233172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121408" y="1325880"/>
            <a:ext cx="54864" cy="2331720"/>
          </a:xfrm>
          <a:prstGeom prst="rect">
            <a:avLst/>
          </a:prstGeom>
          <a:solidFill>
            <a:srgbClr val="2DE2A6"/>
          </a:solidFill>
          <a:ln w="12700">
            <a:solidFill>
              <a:srgbClr val="2DE2A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286000" y="14173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2DE2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22860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286000" y="2194560"/>
            <a:ext cx="1325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duplicates, remove RestingBP = 0, impute cholesterol median 237.0 with a flag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785616" y="1325880"/>
            <a:ext cx="1554480" cy="233172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785616" y="1325880"/>
            <a:ext cx="54864" cy="2331720"/>
          </a:xfrm>
          <a:prstGeom prst="rect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950208" y="14173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FFC8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3950208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950208" y="2194560"/>
            <a:ext cx="1325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age_group, chol_category and bp_category columns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449824" y="1325880"/>
            <a:ext cx="1554480" cy="233172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49824" y="1325880"/>
            <a:ext cx="54864" cy="2331720"/>
          </a:xfrm>
          <a:prstGeom prst="rect">
            <a:avLst/>
          </a:prstGeom>
          <a:solidFill>
            <a:srgbClr val="FF5D73"/>
          </a:solidFill>
          <a:ln w="12700">
            <a:solidFill>
              <a:srgbClr val="FF5D7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614416" y="14173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FF5D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400" dirty="0"/>
          </a:p>
        </p:txBody>
      </p:sp>
      <p:sp>
        <p:nvSpPr>
          <p:cNvPr id="24" name="Text 21"/>
          <p:cNvSpPr txBox="1"/>
          <p:nvPr/>
        </p:nvSpPr>
        <p:spPr>
          <a:xfrm>
            <a:off x="5614416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614416" y="2194560"/>
            <a:ext cx="1325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Patients, cases and disease % for 7 factors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7114032" y="1325880"/>
            <a:ext cx="1554480" cy="233172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114032" y="1325880"/>
            <a:ext cx="54864" cy="2331720"/>
          </a:xfrm>
          <a:prstGeom prst="rect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278624" y="14173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5BB8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2400" dirty="0"/>
          </a:p>
        </p:txBody>
      </p:sp>
      <p:sp>
        <p:nvSpPr>
          <p:cNvPr id="29" name="Text 26"/>
          <p:cNvSpPr txBox="1"/>
          <p:nvPr/>
        </p:nvSpPr>
        <p:spPr>
          <a:xfrm>
            <a:off x="7278624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278624" y="2194560"/>
            <a:ext cx="1325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Parquet to processed/; rate tables and predictions to results/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3886200"/>
            <a:ext cx="8229600" cy="73152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57200" y="3886200"/>
            <a:ext cx="54864" cy="731520"/>
          </a:xfrm>
          <a:prstGeom prst="rect">
            <a:avLst/>
          </a:prstGeom>
          <a:solidFill>
            <a:srgbClr val="2DE2A6"/>
          </a:solidFill>
          <a:ln w="12700">
            <a:solidFill>
              <a:srgbClr val="2DE2A6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85800" y="38862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E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Performance:  </a:t>
            </a:r>
            <a:r>
              <a:rPr lang="en-US" sz="1300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cache() on the cleaned data, repartition(4) on write, explain() for the physical plan</a:t>
            </a:r>
            <a:endParaRPr lang="en-US" sz="1300" dirty="0"/>
          </a:p>
        </p:txBody>
      </p:sp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9FB0C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2DE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 ·  SPARK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F2F6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Spark output and execution plan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315200" y="274320"/>
            <a:ext cx="1417320" cy="411480"/>
          </a:xfrm>
          <a:custGeom>
            <a:avLst/>
            <a:gdLst/>
            <a:ahLst/>
            <a:cxnLst/>
            <a:rect l="l" t="t" r="r" b="b"/>
            <a:pathLst>
              <a:path w="1417320" h="411480">
                <a:moveTo>
                  <a:pt x="0" y="205740"/>
                </a:moveTo>
                <a:lnTo>
                  <a:pt x="255118" y="205740"/>
                </a:lnTo>
                <a:lnTo>
                  <a:pt x="340157" y="185166"/>
                </a:lnTo>
                <a:lnTo>
                  <a:pt x="425196" y="205740"/>
                </a:lnTo>
                <a:lnTo>
                  <a:pt x="566928" y="205740"/>
                </a:lnTo>
                <a:lnTo>
                  <a:pt x="623621" y="255118"/>
                </a:lnTo>
                <a:lnTo>
                  <a:pt x="708660" y="0"/>
                </a:lnTo>
                <a:lnTo>
                  <a:pt x="793699" y="411480"/>
                </a:lnTo>
                <a:lnTo>
                  <a:pt x="864565" y="205740"/>
                </a:lnTo>
                <a:lnTo>
                  <a:pt x="1020470" y="205740"/>
                </a:lnTo>
                <a:lnTo>
                  <a:pt x="1133856" y="144018"/>
                </a:lnTo>
                <a:lnTo>
                  <a:pt x="1275588" y="205740"/>
                </a:lnTo>
                <a:lnTo>
                  <a:pt x="1417320" y="205740"/>
                </a:lnTo>
              </a:path>
            </a:pathLst>
          </a:custGeom>
          <a:ln w="15875">
            <a:solidFill>
              <a:srgbClr val="2DE2A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9FB0C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457200" y="1097280"/>
            <a:ext cx="8229600" cy="356616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pic>
        <p:nvPicPr>
          <p:cNvPr id="26" name="Picture 25" descr="1791283604344_Screenshot_2026-10-06_1611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491" y="1170432"/>
            <a:ext cx="8047017" cy="3419855"/>
          </a:xfrm>
          <a:prstGeom prst="rect">
            <a:avLst/>
          </a:prstGeom>
          <a:ln w="9525">
            <a:solidFill>
              <a:srgbClr val="24405E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2DE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F2F6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Risk rises with age and is higher in men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315200" y="274320"/>
            <a:ext cx="1417320" cy="411480"/>
          </a:xfrm>
          <a:custGeom>
            <a:avLst/>
            <a:gdLst/>
            <a:ahLst/>
            <a:cxnLst/>
            <a:rect l="l" t="t" r="r" b="b"/>
            <a:pathLst>
              <a:path w="1417320" h="411480">
                <a:moveTo>
                  <a:pt x="0" y="205740"/>
                </a:moveTo>
                <a:lnTo>
                  <a:pt x="255118" y="205740"/>
                </a:lnTo>
                <a:lnTo>
                  <a:pt x="340157" y="185166"/>
                </a:lnTo>
                <a:lnTo>
                  <a:pt x="425196" y="205740"/>
                </a:lnTo>
                <a:lnTo>
                  <a:pt x="566928" y="205740"/>
                </a:lnTo>
                <a:lnTo>
                  <a:pt x="623621" y="255118"/>
                </a:lnTo>
                <a:lnTo>
                  <a:pt x="708660" y="0"/>
                </a:lnTo>
                <a:lnTo>
                  <a:pt x="793699" y="411480"/>
                </a:lnTo>
                <a:lnTo>
                  <a:pt x="864565" y="205740"/>
                </a:lnTo>
                <a:lnTo>
                  <a:pt x="1020470" y="205740"/>
                </a:lnTo>
                <a:lnTo>
                  <a:pt x="1133856" y="144018"/>
                </a:lnTo>
                <a:lnTo>
                  <a:pt x="1275588" y="205740"/>
                </a:lnTo>
                <a:lnTo>
                  <a:pt x="1417320" y="205740"/>
                </a:lnTo>
              </a:path>
            </a:pathLst>
          </a:custGeom>
          <a:ln w="15875">
            <a:solidFill>
              <a:srgbClr val="2DE2A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188720"/>
            <a:ext cx="5120640" cy="347472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graphicFrame>
        <p:nvGraphicFramePr>
          <p:cNvPr id="7" name="Chart 0"/>
          <p:cNvGraphicFramePr/>
          <p:nvPr/>
        </p:nvGraphicFramePr>
        <p:xfrm>
          <a:off x="548640" y="1280160"/>
          <a:ext cx="493776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4"/>
          <p:cNvSpPr/>
          <p:nvPr/>
        </p:nvSpPr>
        <p:spPr>
          <a:xfrm>
            <a:off x="5852160" y="1188720"/>
            <a:ext cx="2834640" cy="100584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5852160" y="1188720"/>
            <a:ext cx="54864" cy="1005840"/>
          </a:xfrm>
          <a:prstGeom prst="rect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035040" y="1280160"/>
            <a:ext cx="256032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C8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55.29%</a:t>
            </a:r>
            <a:endParaRPr lang="en-US" sz="2600" dirty="0"/>
          </a:p>
        </p:txBody>
      </p:sp>
      <p:sp>
        <p:nvSpPr>
          <p:cNvPr id="11" name="Text 7"/>
          <p:cNvSpPr txBox="1"/>
          <p:nvPr/>
        </p:nvSpPr>
        <p:spPr>
          <a:xfrm>
            <a:off x="6035040" y="1812341"/>
            <a:ext cx="2560320" cy="34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917 patients: 507 with disease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852160" y="2331720"/>
            <a:ext cx="2834640" cy="100584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852160" y="2331720"/>
            <a:ext cx="54864" cy="1005840"/>
          </a:xfrm>
          <a:prstGeom prst="rect">
            <a:avLst/>
          </a:prstGeom>
          <a:solidFill>
            <a:srgbClr val="FF5D73"/>
          </a:solidFill>
          <a:ln w="12700">
            <a:solidFill>
              <a:srgbClr val="FF5D7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035040" y="2423160"/>
            <a:ext cx="256032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5D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63.12%</a:t>
            </a:r>
            <a:endParaRPr lang="en-US" sz="2600" dirty="0"/>
          </a:p>
        </p:txBody>
      </p:sp>
      <p:sp>
        <p:nvSpPr>
          <p:cNvPr id="15" name="Text 11"/>
          <p:cNvSpPr txBox="1"/>
          <p:nvPr/>
        </p:nvSpPr>
        <p:spPr>
          <a:xfrm>
            <a:off x="6035040" y="2955341"/>
            <a:ext cx="2560320" cy="34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men (724 patients)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852160" y="3474720"/>
            <a:ext cx="2834640" cy="100584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852160" y="3474720"/>
            <a:ext cx="54864" cy="1005840"/>
          </a:xfrm>
          <a:prstGeom prst="rect">
            <a:avLst/>
          </a:prstGeom>
          <a:solidFill>
            <a:srgbClr val="2DE2A6"/>
          </a:solidFill>
          <a:ln w="12700">
            <a:solidFill>
              <a:srgbClr val="2DE2A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035040" y="3566160"/>
            <a:ext cx="256032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DE2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25.91%</a:t>
            </a:r>
            <a:endParaRPr lang="en-US" sz="2600" dirty="0"/>
          </a:p>
        </p:txBody>
      </p:sp>
      <p:sp>
        <p:nvSpPr>
          <p:cNvPr id="19" name="Text 15"/>
          <p:cNvSpPr txBox="1"/>
          <p:nvPr/>
        </p:nvSpPr>
        <p:spPr>
          <a:xfrm>
            <a:off x="6035040" y="4098341"/>
            <a:ext cx="2560320" cy="34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women (193 patients)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9FB0C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2DE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F2F6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Symptoms and ECG findings separate risk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315200" y="274320"/>
            <a:ext cx="1417320" cy="411480"/>
          </a:xfrm>
          <a:custGeom>
            <a:avLst/>
            <a:gdLst/>
            <a:ahLst/>
            <a:cxnLst/>
            <a:rect l="l" t="t" r="r" b="b"/>
            <a:pathLst>
              <a:path w="1417320" h="411480">
                <a:moveTo>
                  <a:pt x="0" y="205740"/>
                </a:moveTo>
                <a:lnTo>
                  <a:pt x="255118" y="205740"/>
                </a:lnTo>
                <a:lnTo>
                  <a:pt x="340157" y="185166"/>
                </a:lnTo>
                <a:lnTo>
                  <a:pt x="425196" y="205740"/>
                </a:lnTo>
                <a:lnTo>
                  <a:pt x="566928" y="205740"/>
                </a:lnTo>
                <a:lnTo>
                  <a:pt x="623621" y="255118"/>
                </a:lnTo>
                <a:lnTo>
                  <a:pt x="708660" y="0"/>
                </a:lnTo>
                <a:lnTo>
                  <a:pt x="793699" y="411480"/>
                </a:lnTo>
                <a:lnTo>
                  <a:pt x="864565" y="205740"/>
                </a:lnTo>
                <a:lnTo>
                  <a:pt x="1020470" y="205740"/>
                </a:lnTo>
                <a:lnTo>
                  <a:pt x="1133856" y="144018"/>
                </a:lnTo>
                <a:lnTo>
                  <a:pt x="1275588" y="205740"/>
                </a:lnTo>
                <a:lnTo>
                  <a:pt x="1417320" y="205740"/>
                </a:lnTo>
              </a:path>
            </a:pathLst>
          </a:custGeom>
          <a:ln w="15875">
            <a:solidFill>
              <a:srgbClr val="2DE2A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188720"/>
            <a:ext cx="5486400" cy="347472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graphicFrame>
        <p:nvGraphicFramePr>
          <p:cNvPr id="7" name="Chart 0"/>
          <p:cNvGraphicFramePr/>
          <p:nvPr/>
        </p:nvGraphicFramePr>
        <p:xfrm>
          <a:off x="548640" y="1280160"/>
          <a:ext cx="530352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4"/>
          <p:cNvSpPr/>
          <p:nvPr/>
        </p:nvSpPr>
        <p:spPr>
          <a:xfrm>
            <a:off x="6126480" y="1188720"/>
            <a:ext cx="2560320" cy="347472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6126480" y="1188720"/>
            <a:ext cx="54864" cy="3474720"/>
          </a:xfrm>
          <a:prstGeom prst="rect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355080" y="13258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C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CHART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6355080" y="1691640"/>
            <a:ext cx="21945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Red: high-risk findings; mint: low-risk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Asymptomatic chest pain is riskiest, not typical angina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 and cholesterol show weaker, non-linear patterns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9FB0C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2DE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F2F6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Cholesterol and BP: weaker signals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315200" y="274320"/>
            <a:ext cx="1417320" cy="411480"/>
          </a:xfrm>
          <a:custGeom>
            <a:avLst/>
            <a:gdLst/>
            <a:ahLst/>
            <a:cxnLst/>
            <a:rect l="l" t="t" r="r" b="b"/>
            <a:pathLst>
              <a:path w="1417320" h="411480">
                <a:moveTo>
                  <a:pt x="0" y="205740"/>
                </a:moveTo>
                <a:lnTo>
                  <a:pt x="255118" y="205740"/>
                </a:lnTo>
                <a:lnTo>
                  <a:pt x="340157" y="185166"/>
                </a:lnTo>
                <a:lnTo>
                  <a:pt x="425196" y="205740"/>
                </a:lnTo>
                <a:lnTo>
                  <a:pt x="566928" y="205740"/>
                </a:lnTo>
                <a:lnTo>
                  <a:pt x="623621" y="255118"/>
                </a:lnTo>
                <a:lnTo>
                  <a:pt x="708660" y="0"/>
                </a:lnTo>
                <a:lnTo>
                  <a:pt x="793699" y="411480"/>
                </a:lnTo>
                <a:lnTo>
                  <a:pt x="864565" y="205740"/>
                </a:lnTo>
                <a:lnTo>
                  <a:pt x="1020470" y="205740"/>
                </a:lnTo>
                <a:lnTo>
                  <a:pt x="1133856" y="144018"/>
                </a:lnTo>
                <a:lnTo>
                  <a:pt x="1275588" y="205740"/>
                </a:lnTo>
                <a:lnTo>
                  <a:pt x="1417320" y="205740"/>
                </a:lnTo>
              </a:path>
            </a:pathLst>
          </a:custGeom>
          <a:ln w="15875">
            <a:solidFill>
              <a:srgbClr val="2DE2A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188720"/>
            <a:ext cx="4023360" cy="274320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663440" y="1188720"/>
            <a:ext cx="4023360" cy="274320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graphicFrame>
        <p:nvGraphicFramePr>
          <p:cNvPr id="8" name="Chart 0"/>
          <p:cNvGraphicFramePr/>
          <p:nvPr/>
        </p:nvGraphicFramePr>
        <p:xfrm>
          <a:off x="502920" y="1234440"/>
          <a:ext cx="393192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Chart 1"/>
          <p:cNvGraphicFramePr/>
          <p:nvPr/>
        </p:nvGraphicFramePr>
        <p:xfrm>
          <a:off x="4709160" y="1234440"/>
          <a:ext cx="393192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Shape 5"/>
          <p:cNvSpPr/>
          <p:nvPr/>
        </p:nvSpPr>
        <p:spPr>
          <a:xfrm>
            <a:off x="457200" y="4114800"/>
            <a:ext cx="4023360" cy="54864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457200" y="4114800"/>
            <a:ext cx="54864" cy="548640"/>
          </a:xfrm>
          <a:prstGeom prst="rect">
            <a:avLst/>
          </a:prstGeom>
          <a:solidFill>
            <a:srgbClr val="FF5D73"/>
          </a:solidFill>
          <a:ln w="12700">
            <a:solidFill>
              <a:srgbClr val="FF5D73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640080" y="411480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Cholesterol: 146 / 408 / 363 patients (Normal / Borderline / High)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4663440" y="4114800"/>
            <a:ext cx="4023360" cy="54864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4663440" y="4114800"/>
            <a:ext cx="54864" cy="548640"/>
          </a:xfrm>
          <a:prstGeom prst="rect">
            <a:avLst/>
          </a:prstGeom>
          <a:solidFill>
            <a:srgbClr val="FF5D73"/>
          </a:solidFill>
          <a:ln w="12700">
            <a:solidFill>
              <a:srgbClr val="FF5D73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4846320" y="411480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pressure: 160 / 430 / 327 patients (Normal / Elevated / High)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9FB0C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2DE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 ·  SPARK ANALYTICS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F2F6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Disease-rate tables from our PySpark run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315200" y="274320"/>
            <a:ext cx="1417320" cy="411480"/>
          </a:xfrm>
          <a:custGeom>
            <a:avLst/>
            <a:gdLst/>
            <a:ahLst/>
            <a:cxnLst/>
            <a:rect l="l" t="t" r="r" b="b"/>
            <a:pathLst>
              <a:path w="1417320" h="411480">
                <a:moveTo>
                  <a:pt x="0" y="205740"/>
                </a:moveTo>
                <a:lnTo>
                  <a:pt x="255118" y="205740"/>
                </a:lnTo>
                <a:lnTo>
                  <a:pt x="340157" y="185166"/>
                </a:lnTo>
                <a:lnTo>
                  <a:pt x="425196" y="205740"/>
                </a:lnTo>
                <a:lnTo>
                  <a:pt x="566928" y="205740"/>
                </a:lnTo>
                <a:lnTo>
                  <a:pt x="623621" y="255118"/>
                </a:lnTo>
                <a:lnTo>
                  <a:pt x="708660" y="0"/>
                </a:lnTo>
                <a:lnTo>
                  <a:pt x="793699" y="411480"/>
                </a:lnTo>
                <a:lnTo>
                  <a:pt x="864565" y="205740"/>
                </a:lnTo>
                <a:lnTo>
                  <a:pt x="1020470" y="205740"/>
                </a:lnTo>
                <a:lnTo>
                  <a:pt x="1133856" y="144018"/>
                </a:lnTo>
                <a:lnTo>
                  <a:pt x="1275588" y="205740"/>
                </a:lnTo>
                <a:lnTo>
                  <a:pt x="1417320" y="205740"/>
                </a:lnTo>
              </a:path>
            </a:pathLst>
          </a:custGeom>
          <a:ln w="15875">
            <a:solidFill>
              <a:srgbClr val="2DE2A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9FB0C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457200" y="1188720"/>
            <a:ext cx="3113287" cy="347472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pic>
        <p:nvPicPr>
          <p:cNvPr id="26" name="Picture 25" descr="1791283994114_Screenshot_2026-10-06_1622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261872"/>
            <a:ext cx="2966983" cy="3328415"/>
          </a:xfrm>
          <a:prstGeom prst="rect">
            <a:avLst/>
          </a:prstGeom>
          <a:ln w="9525">
            <a:solidFill>
              <a:srgbClr val="24405E"/>
            </a:solidFill>
          </a:ln>
        </p:spPr>
      </p:pic>
      <p:sp>
        <p:nvSpPr>
          <p:cNvPr id="8" name="Shape 4"/>
          <p:cNvSpPr/>
          <p:nvPr/>
        </p:nvSpPr>
        <p:spPr>
          <a:xfrm>
            <a:off x="3707647" y="1188720"/>
            <a:ext cx="4979153" cy="347472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3707647" y="1188720"/>
            <a:ext cx="54864" cy="3474720"/>
          </a:xfrm>
          <a:prstGeom prst="rect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3936247" y="1325880"/>
            <a:ext cx="45219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C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READINGS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3936247" y="1691720"/>
            <a:ext cx="4521953" cy="283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Sex: men 63.12%, women 25.91%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Age: 32.50% under 40 rising to 73.12% at 60+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pain: ASY 79.03%, ATA 13.87%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angina Yes 85.18%; ST slope Flat 82.79%, Up 19.75%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Cholesterol and BP: weaker, non-linear patterns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2DE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F2F6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Random Forest beats Logistic Regression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315200" y="274320"/>
            <a:ext cx="1417320" cy="411480"/>
          </a:xfrm>
          <a:custGeom>
            <a:avLst/>
            <a:gdLst/>
            <a:ahLst/>
            <a:cxnLst/>
            <a:rect l="l" t="t" r="r" b="b"/>
            <a:pathLst>
              <a:path w="1417320" h="411480">
                <a:moveTo>
                  <a:pt x="0" y="205740"/>
                </a:moveTo>
                <a:lnTo>
                  <a:pt x="255118" y="205740"/>
                </a:lnTo>
                <a:lnTo>
                  <a:pt x="340157" y="185166"/>
                </a:lnTo>
                <a:lnTo>
                  <a:pt x="425196" y="205740"/>
                </a:lnTo>
                <a:lnTo>
                  <a:pt x="566928" y="205740"/>
                </a:lnTo>
                <a:lnTo>
                  <a:pt x="623621" y="255118"/>
                </a:lnTo>
                <a:lnTo>
                  <a:pt x="708660" y="0"/>
                </a:lnTo>
                <a:lnTo>
                  <a:pt x="793699" y="411480"/>
                </a:lnTo>
                <a:lnTo>
                  <a:pt x="864565" y="205740"/>
                </a:lnTo>
                <a:lnTo>
                  <a:pt x="1020470" y="205740"/>
                </a:lnTo>
                <a:lnTo>
                  <a:pt x="1133856" y="144018"/>
                </a:lnTo>
                <a:lnTo>
                  <a:pt x="1275588" y="205740"/>
                </a:lnTo>
                <a:lnTo>
                  <a:pt x="1417320" y="205740"/>
                </a:lnTo>
              </a:path>
            </a:pathLst>
          </a:custGeom>
          <a:ln w="15875">
            <a:solidFill>
              <a:srgbClr val="2DE2A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188720"/>
            <a:ext cx="2834640" cy="347472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57200" y="1188720"/>
            <a:ext cx="54864" cy="3474720"/>
          </a:xfrm>
          <a:prstGeom prst="rect">
            <a:avLst/>
          </a:prstGeom>
          <a:solidFill>
            <a:srgbClr val="2DE2A6"/>
          </a:solidFill>
          <a:ln w="12700">
            <a:solidFill>
              <a:srgbClr val="2DE2A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132588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DE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PIPELINE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1645920"/>
            <a:ext cx="2468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StringIndexer, OneHotEncoder, VectorAssembler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80/20 split, seed 42: 728 train, 189 test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Forest: 100 trees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wins on every metric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474720" y="1188720"/>
            <a:ext cx="5212080" cy="347472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graphicFrame>
        <p:nvGraphicFramePr>
          <p:cNvPr id="11" name="Chart 0"/>
          <p:cNvGraphicFramePr/>
          <p:nvPr/>
        </p:nvGraphicFramePr>
        <p:xfrm>
          <a:off x="3566160" y="1280160"/>
          <a:ext cx="502920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9FB0C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2DE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F2F6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the models err: confusion matrices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315200" y="274320"/>
            <a:ext cx="1417320" cy="411480"/>
          </a:xfrm>
          <a:custGeom>
            <a:avLst/>
            <a:gdLst/>
            <a:ahLst/>
            <a:cxnLst/>
            <a:rect l="l" t="t" r="r" b="b"/>
            <a:pathLst>
              <a:path w="1417320" h="411480">
                <a:moveTo>
                  <a:pt x="0" y="205740"/>
                </a:moveTo>
                <a:lnTo>
                  <a:pt x="255118" y="205740"/>
                </a:lnTo>
                <a:lnTo>
                  <a:pt x="340157" y="185166"/>
                </a:lnTo>
                <a:lnTo>
                  <a:pt x="425196" y="205740"/>
                </a:lnTo>
                <a:lnTo>
                  <a:pt x="566928" y="205740"/>
                </a:lnTo>
                <a:lnTo>
                  <a:pt x="623621" y="255118"/>
                </a:lnTo>
                <a:lnTo>
                  <a:pt x="708660" y="0"/>
                </a:lnTo>
                <a:lnTo>
                  <a:pt x="793699" y="411480"/>
                </a:lnTo>
                <a:lnTo>
                  <a:pt x="864565" y="205740"/>
                </a:lnTo>
                <a:lnTo>
                  <a:pt x="1020470" y="205740"/>
                </a:lnTo>
                <a:lnTo>
                  <a:pt x="1133856" y="144018"/>
                </a:lnTo>
                <a:lnTo>
                  <a:pt x="1275588" y="205740"/>
                </a:lnTo>
                <a:lnTo>
                  <a:pt x="1417320" y="205740"/>
                </a:lnTo>
              </a:path>
            </a:pathLst>
          </a:custGeom>
          <a:ln w="15875">
            <a:solidFill>
              <a:srgbClr val="2DE2A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188720"/>
            <a:ext cx="4023360" cy="274320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57200" y="1188720"/>
            <a:ext cx="54864" cy="2743200"/>
          </a:xfrm>
          <a:prstGeom prst="rect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1280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5BB8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Logistic Regression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874520" y="164592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normal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3063240" y="164592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disease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2402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normal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31546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disease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1828800" y="1920240"/>
            <a:ext cx="1188720" cy="914400"/>
          </a:xfrm>
          <a:prstGeom prst="rect">
            <a:avLst/>
          </a:prstGeom>
          <a:solidFill>
            <a:srgbClr val="0B1320"/>
          </a:solidFill>
          <a:ln w="19050">
            <a:solidFill>
              <a:srgbClr val="2DE2A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828800" y="199339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DE2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67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828800" y="248716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negative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063240" y="1920240"/>
            <a:ext cx="1188720" cy="914400"/>
          </a:xfrm>
          <a:prstGeom prst="rect">
            <a:avLst/>
          </a:prstGeom>
          <a:solidFill>
            <a:srgbClr val="0B1320"/>
          </a:solidFill>
          <a:ln w="19050">
            <a:solidFill>
              <a:srgbClr val="FFC8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063240" y="199339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C8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23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3063240" y="248716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alarm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828800" y="2880360"/>
            <a:ext cx="1188720" cy="914400"/>
          </a:xfrm>
          <a:prstGeom prst="rect">
            <a:avLst/>
          </a:prstGeom>
          <a:solidFill>
            <a:srgbClr val="0B1320"/>
          </a:solidFill>
          <a:ln w="19050">
            <a:solidFill>
              <a:srgbClr val="FF5D7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828800" y="295351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5D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1828800" y="344728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case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3063240" y="2880360"/>
            <a:ext cx="1188720" cy="914400"/>
          </a:xfrm>
          <a:prstGeom prst="rect">
            <a:avLst/>
          </a:prstGeom>
          <a:solidFill>
            <a:srgbClr val="0B1320"/>
          </a:solidFill>
          <a:ln w="19050">
            <a:solidFill>
              <a:srgbClr val="2DE2A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063240" y="295351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DE2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87</a:t>
            </a:r>
            <a:endParaRPr lang="en-US" sz="2400" dirty="0"/>
          </a:p>
        </p:txBody>
      </p:sp>
      <p:sp>
        <p:nvSpPr>
          <p:cNvPr id="24" name="Text 21"/>
          <p:cNvSpPr txBox="1"/>
          <p:nvPr/>
        </p:nvSpPr>
        <p:spPr>
          <a:xfrm>
            <a:off x="3063240" y="344728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positive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663440" y="1188720"/>
            <a:ext cx="4023360" cy="274320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663440" y="1188720"/>
            <a:ext cx="54864" cy="2743200"/>
          </a:xfrm>
          <a:prstGeom prst="rect">
            <a:avLst/>
          </a:prstGeom>
          <a:solidFill>
            <a:srgbClr val="2DE2A6"/>
          </a:solidFill>
          <a:ln w="12700">
            <a:solidFill>
              <a:srgbClr val="2DE2A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892040" y="1280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2DE2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Random Forest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6080760" y="164592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normal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269480" y="164592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disease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4800600" y="22402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normal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4800600" y="31546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disease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6035040" y="1920240"/>
            <a:ext cx="1188720" cy="914400"/>
          </a:xfrm>
          <a:prstGeom prst="rect">
            <a:avLst/>
          </a:prstGeom>
          <a:solidFill>
            <a:srgbClr val="0B1320"/>
          </a:solidFill>
          <a:ln w="19050">
            <a:solidFill>
              <a:srgbClr val="2DE2A6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035040" y="199339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DE2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72</a:t>
            </a:r>
            <a:endParaRPr lang="en-US" sz="2400" dirty="0"/>
          </a:p>
        </p:txBody>
      </p:sp>
      <p:sp>
        <p:nvSpPr>
          <p:cNvPr id="34" name="Text 31"/>
          <p:cNvSpPr txBox="1"/>
          <p:nvPr/>
        </p:nvSpPr>
        <p:spPr>
          <a:xfrm>
            <a:off x="6035040" y="248716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negative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7269480" y="1920240"/>
            <a:ext cx="1188720" cy="914400"/>
          </a:xfrm>
          <a:prstGeom prst="rect">
            <a:avLst/>
          </a:prstGeom>
          <a:solidFill>
            <a:srgbClr val="0B1320"/>
          </a:solidFill>
          <a:ln w="19050">
            <a:solidFill>
              <a:srgbClr val="FFC8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269480" y="199339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C8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</a:t>
            </a:r>
            <a:endParaRPr lang="en-US" sz="2400" dirty="0"/>
          </a:p>
        </p:txBody>
      </p:sp>
      <p:sp>
        <p:nvSpPr>
          <p:cNvPr id="37" name="Text 34"/>
          <p:cNvSpPr txBox="1"/>
          <p:nvPr/>
        </p:nvSpPr>
        <p:spPr>
          <a:xfrm>
            <a:off x="7269480" y="248716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alarm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6035040" y="2880360"/>
            <a:ext cx="1188720" cy="914400"/>
          </a:xfrm>
          <a:prstGeom prst="rect">
            <a:avLst/>
          </a:prstGeom>
          <a:solidFill>
            <a:srgbClr val="0B1320"/>
          </a:solidFill>
          <a:ln w="19050">
            <a:solidFill>
              <a:srgbClr val="FF5D73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035040" y="295351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5D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</a:t>
            </a:r>
            <a:endParaRPr lang="en-US" sz="2400" dirty="0"/>
          </a:p>
        </p:txBody>
      </p:sp>
      <p:sp>
        <p:nvSpPr>
          <p:cNvPr id="40" name="Text 37"/>
          <p:cNvSpPr txBox="1"/>
          <p:nvPr/>
        </p:nvSpPr>
        <p:spPr>
          <a:xfrm>
            <a:off x="6035040" y="344728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case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7269480" y="2880360"/>
            <a:ext cx="1188720" cy="914400"/>
          </a:xfrm>
          <a:prstGeom prst="rect">
            <a:avLst/>
          </a:prstGeom>
          <a:solidFill>
            <a:srgbClr val="0B1320"/>
          </a:solidFill>
          <a:ln w="19050">
            <a:solidFill>
              <a:srgbClr val="2DE2A6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269480" y="295351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DE2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88</a:t>
            </a:r>
            <a:endParaRPr lang="en-US" sz="2400" dirty="0"/>
          </a:p>
        </p:txBody>
      </p:sp>
      <p:sp>
        <p:nvSpPr>
          <p:cNvPr id="43" name="Text 40"/>
          <p:cNvSpPr txBox="1"/>
          <p:nvPr/>
        </p:nvSpPr>
        <p:spPr>
          <a:xfrm>
            <a:off x="7269480" y="344728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positive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457200" y="4069080"/>
            <a:ext cx="4023360" cy="59436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457200" y="4069080"/>
            <a:ext cx="54864" cy="594360"/>
          </a:xfrm>
          <a:prstGeom prst="rect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85800" y="406908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BB8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Disease recall  87 / 99 = 0.879</a:t>
            </a:r>
            <a:endParaRPr lang="en-US" sz="1500" dirty="0"/>
          </a:p>
        </p:txBody>
      </p:sp>
      <p:sp>
        <p:nvSpPr>
          <p:cNvPr id="47" name="Shape 44"/>
          <p:cNvSpPr/>
          <p:nvPr/>
        </p:nvSpPr>
        <p:spPr>
          <a:xfrm>
            <a:off x="4663440" y="4069080"/>
            <a:ext cx="4023360" cy="59436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4663440" y="4069080"/>
            <a:ext cx="54864" cy="594360"/>
          </a:xfrm>
          <a:prstGeom prst="rect">
            <a:avLst/>
          </a:prstGeom>
          <a:solidFill>
            <a:srgbClr val="2DE2A6"/>
          </a:solidFill>
          <a:ln w="12700">
            <a:solidFill>
              <a:srgbClr val="2DE2A6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892040" y="406908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E2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Disease recall  88 / 99 = 0.889</a:t>
            </a:r>
            <a:endParaRPr lang="en-US" sz="1500" dirty="0"/>
          </a:p>
        </p:txBody>
      </p:sp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9FB0C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2DE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F2F6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drives the Random Forest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315200" y="274320"/>
            <a:ext cx="1417320" cy="411480"/>
          </a:xfrm>
          <a:custGeom>
            <a:avLst/>
            <a:gdLst/>
            <a:ahLst/>
            <a:cxnLst/>
            <a:rect l="l" t="t" r="r" b="b"/>
            <a:pathLst>
              <a:path w="1417320" h="411480">
                <a:moveTo>
                  <a:pt x="0" y="205740"/>
                </a:moveTo>
                <a:lnTo>
                  <a:pt x="255118" y="205740"/>
                </a:lnTo>
                <a:lnTo>
                  <a:pt x="340157" y="185166"/>
                </a:lnTo>
                <a:lnTo>
                  <a:pt x="425196" y="205740"/>
                </a:lnTo>
                <a:lnTo>
                  <a:pt x="566928" y="205740"/>
                </a:lnTo>
                <a:lnTo>
                  <a:pt x="623621" y="255118"/>
                </a:lnTo>
                <a:lnTo>
                  <a:pt x="708660" y="0"/>
                </a:lnTo>
                <a:lnTo>
                  <a:pt x="793699" y="411480"/>
                </a:lnTo>
                <a:lnTo>
                  <a:pt x="864565" y="205740"/>
                </a:lnTo>
                <a:lnTo>
                  <a:pt x="1020470" y="205740"/>
                </a:lnTo>
                <a:lnTo>
                  <a:pt x="1133856" y="144018"/>
                </a:lnTo>
                <a:lnTo>
                  <a:pt x="1275588" y="205740"/>
                </a:lnTo>
                <a:lnTo>
                  <a:pt x="1417320" y="205740"/>
                </a:lnTo>
              </a:path>
            </a:pathLst>
          </a:custGeom>
          <a:ln w="15875">
            <a:solidFill>
              <a:srgbClr val="2DE2A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188720"/>
            <a:ext cx="5394960" cy="347472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graphicFrame>
        <p:nvGraphicFramePr>
          <p:cNvPr id="7" name="Chart 0"/>
          <p:cNvGraphicFramePr/>
          <p:nvPr/>
        </p:nvGraphicFramePr>
        <p:xfrm>
          <a:off x="548640" y="1280160"/>
          <a:ext cx="5212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4"/>
          <p:cNvSpPr/>
          <p:nvPr/>
        </p:nvSpPr>
        <p:spPr>
          <a:xfrm>
            <a:off x="6035040" y="1188720"/>
            <a:ext cx="2651760" cy="347472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6035040" y="1188720"/>
            <a:ext cx="54864" cy="3474720"/>
          </a:xfrm>
          <a:prstGeom prst="rect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263640" y="13258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C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6263640" y="1691640"/>
            <a:ext cx="2286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 slope is the strongest signal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Asymptomatic chest pain ranks third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angina and oldpeak follow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agrees with Hive and Spark analytics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9FB0C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2DE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 LAYER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F2F6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HBase risk lookup and component roles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315200" y="274320"/>
            <a:ext cx="1417320" cy="411480"/>
          </a:xfrm>
          <a:custGeom>
            <a:avLst/>
            <a:gdLst/>
            <a:ahLst/>
            <a:cxnLst/>
            <a:rect l="l" t="t" r="r" b="b"/>
            <a:pathLst>
              <a:path w="1417320" h="411480">
                <a:moveTo>
                  <a:pt x="0" y="205740"/>
                </a:moveTo>
                <a:lnTo>
                  <a:pt x="255118" y="205740"/>
                </a:lnTo>
                <a:lnTo>
                  <a:pt x="340157" y="185166"/>
                </a:lnTo>
                <a:lnTo>
                  <a:pt x="425196" y="205740"/>
                </a:lnTo>
                <a:lnTo>
                  <a:pt x="566928" y="205740"/>
                </a:lnTo>
                <a:lnTo>
                  <a:pt x="623621" y="255118"/>
                </a:lnTo>
                <a:lnTo>
                  <a:pt x="708660" y="0"/>
                </a:lnTo>
                <a:lnTo>
                  <a:pt x="793699" y="411480"/>
                </a:lnTo>
                <a:lnTo>
                  <a:pt x="864565" y="205740"/>
                </a:lnTo>
                <a:lnTo>
                  <a:pt x="1020470" y="205740"/>
                </a:lnTo>
                <a:lnTo>
                  <a:pt x="1133856" y="144018"/>
                </a:lnTo>
                <a:lnTo>
                  <a:pt x="1275588" y="205740"/>
                </a:lnTo>
                <a:lnTo>
                  <a:pt x="1417320" y="205740"/>
                </a:lnTo>
              </a:path>
            </a:pathLst>
          </a:custGeom>
          <a:ln w="15875">
            <a:solidFill>
              <a:srgbClr val="2DE2A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188720"/>
            <a:ext cx="4572000" cy="347472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57200" y="1188720"/>
            <a:ext cx="54864" cy="3474720"/>
          </a:xfrm>
          <a:prstGeom prst="rect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132588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BB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HBASE: patient_risk TABLE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162763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 families info and risk; two real Random Forest test predictions loaded.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194560"/>
          <a:ext cx="4114800" cy="1097280"/>
        </p:xfrm>
        <a:graphic>
          <a:graphicData uri="http://schemas.openxmlformats.org/drawingml/2006/table">
            <a:tbl>
              <a:tblPr/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B1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 key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B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B1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B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B1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B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B1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B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2F6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P0001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3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2F6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41, M, ASY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3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2F6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3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E2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(correct)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3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2F6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P0004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3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2F6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61, M, ASY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3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2F6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3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5D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(missed)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3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85800" y="35204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Row-key lookup is what HBase is built for; Hive and plain files are not.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212080" y="1188720"/>
            <a:ext cx="3474720" cy="347472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212080" y="1188720"/>
            <a:ext cx="54864" cy="3474720"/>
          </a:xfrm>
          <a:prstGeom prst="rect">
            <a:avLst/>
          </a:prstGeom>
          <a:solidFill>
            <a:srgbClr val="2DE2A6"/>
          </a:solidFill>
          <a:ln w="12700">
            <a:solidFill>
              <a:srgbClr val="2DE2A6"/>
            </a:solidFill>
            <a:prstDash val="solid"/>
          </a:ln>
        </p:spPr>
      </p:sp>
      <p:sp>
        <p:nvSpPr>
          <p:cNvPr id="5" name="Text 10"/>
          <p:cNvSpPr txBox="1"/>
          <p:nvPr/>
        </p:nvSpPr>
        <p:spPr>
          <a:xfrm>
            <a:off x="5440680" y="1325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DE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PIECES FIT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5440680" y="16916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C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HDFS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6263640" y="169164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raw, cleaned and result data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5440680" y="227685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C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Hive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6263640" y="2276856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analytics over the files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5440680" y="286207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C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6263640" y="286207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cleaning, aggregation and MLlib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5440680" y="344728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C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YARN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6263640" y="344728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management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5440680" y="403250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C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HBase</a:t>
            </a:r>
            <a:endParaRPr lang="en-US" sz="1300" dirty="0"/>
          </a:p>
        </p:txBody>
      </p:sp>
      <p:sp>
        <p:nvSpPr>
          <p:cNvPr id="24" name="Text 20"/>
          <p:cNvSpPr txBox="1"/>
          <p:nvPr/>
        </p:nvSpPr>
        <p:spPr>
          <a:xfrm>
            <a:off x="6263640" y="4032504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risk-score lookup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9FB0C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2DE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F2F6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315200" y="274320"/>
            <a:ext cx="1417320" cy="411480"/>
          </a:xfrm>
          <a:custGeom>
            <a:avLst/>
            <a:gdLst/>
            <a:ahLst/>
            <a:cxnLst/>
            <a:rect l="l" t="t" r="r" b="b"/>
            <a:pathLst>
              <a:path w="1417320" h="411480">
                <a:moveTo>
                  <a:pt x="0" y="205740"/>
                </a:moveTo>
                <a:lnTo>
                  <a:pt x="255118" y="205740"/>
                </a:lnTo>
                <a:lnTo>
                  <a:pt x="340157" y="185166"/>
                </a:lnTo>
                <a:lnTo>
                  <a:pt x="425196" y="205740"/>
                </a:lnTo>
                <a:lnTo>
                  <a:pt x="566928" y="205740"/>
                </a:lnTo>
                <a:lnTo>
                  <a:pt x="623621" y="255118"/>
                </a:lnTo>
                <a:lnTo>
                  <a:pt x="708660" y="0"/>
                </a:lnTo>
                <a:lnTo>
                  <a:pt x="793699" y="411480"/>
                </a:lnTo>
                <a:lnTo>
                  <a:pt x="864565" y="205740"/>
                </a:lnTo>
                <a:lnTo>
                  <a:pt x="1020470" y="205740"/>
                </a:lnTo>
                <a:lnTo>
                  <a:pt x="1133856" y="144018"/>
                </a:lnTo>
                <a:lnTo>
                  <a:pt x="1275588" y="205740"/>
                </a:lnTo>
                <a:lnTo>
                  <a:pt x="1417320" y="205740"/>
                </a:lnTo>
              </a:path>
            </a:pathLst>
          </a:custGeom>
          <a:ln w="15875">
            <a:solidFill>
              <a:srgbClr val="2DE2A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188720"/>
            <a:ext cx="2651760" cy="100584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57200" y="1188720"/>
            <a:ext cx="54864" cy="1005840"/>
          </a:xfrm>
          <a:prstGeom prst="rect">
            <a:avLst/>
          </a:prstGeom>
          <a:solidFill>
            <a:srgbClr val="2DE2A6"/>
          </a:solidFill>
          <a:ln w="12700">
            <a:solidFill>
              <a:srgbClr val="2DE2A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280160"/>
            <a:ext cx="237744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DE2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0.905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1812341"/>
            <a:ext cx="2377440" cy="34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AUC, Random Forest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46120" y="1188720"/>
            <a:ext cx="2651760" cy="100584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246120" y="1188720"/>
            <a:ext cx="54864" cy="1005840"/>
          </a:xfrm>
          <a:prstGeom prst="rect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429000" y="1280160"/>
            <a:ext cx="237744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5BB8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84.7%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3429000" y="1812341"/>
            <a:ext cx="2377440" cy="34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accuracy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035040" y="1188720"/>
            <a:ext cx="2651760" cy="100584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035040" y="1188720"/>
            <a:ext cx="54864" cy="1005840"/>
          </a:xfrm>
          <a:prstGeom prst="rect">
            <a:avLst/>
          </a:prstGeom>
          <a:solidFill>
            <a:srgbClr val="FF5D73"/>
          </a:solidFill>
          <a:ln w="12700">
            <a:solidFill>
              <a:srgbClr val="FF5D7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217920" y="1280160"/>
            <a:ext cx="237744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5D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88 of 99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6217920" y="1812341"/>
            <a:ext cx="2377440" cy="34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cases found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2377440"/>
            <a:ext cx="4023360" cy="228600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57200" y="2377440"/>
            <a:ext cx="54864" cy="2286000"/>
          </a:xfrm>
          <a:prstGeom prst="rect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2487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C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685800" y="278892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single-source data: 917 rows, 79% male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Imputed cholesterol all lands in Borderline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split, no clinical validation: a prototype, not a diagnosis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4663440" y="2377440"/>
            <a:ext cx="4023360" cy="2286000"/>
          </a:xfrm>
          <a:prstGeom prst="rect">
            <a:avLst/>
          </a:prstGeom>
          <a:solidFill>
            <a:srgbClr val="132033"/>
          </a:solidFill>
          <a:ln w="9525">
            <a:solidFill>
              <a:srgbClr val="24405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663440" y="2377440"/>
            <a:ext cx="54864" cy="2286000"/>
          </a:xfrm>
          <a:prstGeom prst="rect">
            <a:avLst/>
          </a:prstGeom>
          <a:solidFill>
            <a:srgbClr val="2DE2A6"/>
          </a:solidFill>
          <a:ln w="12700">
            <a:solidFill>
              <a:srgbClr val="2DE2A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892040" y="2487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DE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4892040" y="278892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EHR data such as CDC BRFSS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Hive partitioning and cross-validation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F2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tuning to raise recall</a:t>
            </a:r>
            <a:endParaRPr lang="en-US" sz="1250" dirty="0"/>
          </a:p>
        </p:txBody>
      </p:sp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9FB0C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05840"/>
            <a:ext cx="8046720" cy="1097280"/>
          </a:xfrm>
          <a:custGeom>
            <a:avLst/>
            <a:gdLst/>
            <a:ahLst/>
            <a:cxnLst/>
            <a:rect l="l" t="t" r="r" b="b"/>
            <a:pathLst>
              <a:path w="8046720" h="1097280">
                <a:moveTo>
                  <a:pt x="0" y="548640"/>
                </a:moveTo>
                <a:lnTo>
                  <a:pt x="1448410" y="548640"/>
                </a:lnTo>
                <a:lnTo>
                  <a:pt x="1931213" y="493776"/>
                </a:lnTo>
                <a:lnTo>
                  <a:pt x="2414016" y="548640"/>
                </a:lnTo>
                <a:lnTo>
                  <a:pt x="3218688" y="548640"/>
                </a:lnTo>
                <a:lnTo>
                  <a:pt x="3540557" y="680314"/>
                </a:lnTo>
                <a:lnTo>
                  <a:pt x="4023360" y="0"/>
                </a:lnTo>
                <a:lnTo>
                  <a:pt x="4506163" y="1097280"/>
                </a:lnTo>
                <a:lnTo>
                  <a:pt x="4908499" y="548640"/>
                </a:lnTo>
                <a:lnTo>
                  <a:pt x="5793638" y="548640"/>
                </a:lnTo>
                <a:lnTo>
                  <a:pt x="6437376" y="384048"/>
                </a:lnTo>
                <a:lnTo>
                  <a:pt x="7242048" y="548640"/>
                </a:lnTo>
                <a:lnTo>
                  <a:pt x="8046720" y="548640"/>
                </a:lnTo>
              </a:path>
            </a:pathLst>
          </a:custGeom>
          <a:ln w="31750">
            <a:solidFill>
              <a:srgbClr val="2DE2A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242038"/>
            <a:ext cx="8046720" cy="7983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2F6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329712" y="3226777"/>
            <a:ext cx="8265648" cy="598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C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Analytics &amp; Disease Prediction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319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500" b="1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Himani  ·   Akash   ·   Anshuman   ·   Aditya   ·   Maulik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9FB0C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19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7D60BD-BE08-0369-D83C-CF2420486B36}"/>
              </a:ext>
            </a:extLst>
          </p:cNvPr>
          <p:cNvSpPr txBox="1"/>
          <p:nvPr/>
        </p:nvSpPr>
        <p:spPr>
          <a:xfrm>
            <a:off x="615462" y="4297680"/>
            <a:ext cx="7350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u="sng" dirty="0">
                <a:solidFill>
                  <a:schemeClr val="bg1"/>
                </a:solidFill>
              </a:rPr>
              <a:t>GITHUB REPOSITARY: maulikcmr05/GUVI-Project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1596</Words>
  <Application>Microsoft Office PowerPoint</Application>
  <PresentationFormat>On-screen Show (16:9)</PresentationFormat>
  <Paragraphs>274</Paragraphs>
  <Slides>19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Calibri</vt:lpstr>
      <vt:lpstr>Consolas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Healthcare Analytics &amp; Disease Prediction</dc:title>
  <dc:subject>PptxGenJS Presentation</dc:subject>
  <dc:creator>Himani Tuli, Akash, Anshuman, Aditya, Maulik</dc:creator>
  <cp:lastModifiedBy>Maulik Chothani</cp:lastModifiedBy>
  <cp:revision>2</cp:revision>
  <dcterms:created xsi:type="dcterms:W3CDTF">2026-10-06T12:47:37Z</dcterms:created>
  <dcterms:modified xsi:type="dcterms:W3CDTF">2026-10-07T05:17:47Z</dcterms:modified>
</cp:coreProperties>
</file>