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1" r:id="rId6"/>
    <p:sldId id="260" r:id="rId7"/>
    <p:sldId id="272" r:id="rId8"/>
    <p:sldId id="261" r:id="rId9"/>
    <p:sldId id="273" r:id="rId10"/>
    <p:sldId id="262" r:id="rId11"/>
    <p:sldId id="263" r:id="rId12"/>
    <p:sldId id="264" r:id="rId13"/>
    <p:sldId id="27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2F6F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2F6FA"/>
                </a:solidFill>
                <a:latin typeface="Calibri"/>
              </a:rPr>
              <a:t>Heart disease rate by age group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Disease rate (%)</c:v>
                </c:pt>
              </c:strCache>
            </c:strRef>
          </c:tx>
          <c:spPr>
            <a:solidFill>
              <a:srgbClr val="5BB8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265-45B6-97C3-09A09E01CBA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265-45B6-97C3-09A09E01CBAE}"/>
              </c:ext>
            </c:extLst>
          </c:dPt>
          <c:dPt>
            <c:idx val="2"/>
            <c:invertIfNegative val="0"/>
            <c:bubble3D val="0"/>
            <c:spPr>
              <a:solidFill>
                <a:srgbClr val="FFC8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265-45B6-97C3-09A09E01CBAE}"/>
              </c:ext>
            </c:extLst>
          </c:dPt>
          <c:dPt>
            <c:idx val="3"/>
            <c:invertIfNegative val="0"/>
            <c:bubble3D val="0"/>
            <c:spPr>
              <a:solidFill>
                <a:srgbClr val="FF5D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265-45B6-97C3-09A09E01CBA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2F6F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Under 40</c:v>
                </c:pt>
                <c:pt idx="1">
                  <c:v>40-49</c:v>
                </c:pt>
                <c:pt idx="2">
                  <c:v>50-59</c:v>
                </c:pt>
                <c:pt idx="3">
                  <c:v>60+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32.5</c:v>
                </c:pt>
                <c:pt idx="1">
                  <c:v>40.28</c:v>
                </c:pt>
                <c:pt idx="2">
                  <c:v>56.57</c:v>
                </c:pt>
                <c:pt idx="3">
                  <c:v>73.12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265-45B6-97C3-09A09E01CB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0C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1E324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2F6F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2F6FA"/>
                </a:solidFill>
                <a:latin typeface="Calibri"/>
              </a:rPr>
              <a:t>Heart disease rate by finding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Disease rate (%)</c:v>
                </c:pt>
              </c:strCache>
            </c:strRef>
          </c:tx>
          <c:spPr>
            <a:solidFill>
              <a:srgbClr val="2DE2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C5C-4081-9E59-0E01347695C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C5C-4081-9E59-0E01347695C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C5C-4081-9E59-0E01347695CA}"/>
              </c:ext>
            </c:extLst>
          </c:dPt>
          <c:dPt>
            <c:idx val="3"/>
            <c:invertIfNegative val="0"/>
            <c:bubble3D val="0"/>
            <c:spPr>
              <a:solidFill>
                <a:srgbClr val="FF5D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C5C-4081-9E59-0E01347695CA}"/>
              </c:ext>
            </c:extLst>
          </c:dPt>
          <c:dPt>
            <c:idx val="4"/>
            <c:invertIfNegative val="0"/>
            <c:bubble3D val="0"/>
            <c:spPr>
              <a:solidFill>
                <a:srgbClr val="FF5D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C5C-4081-9E59-0E01347695CA}"/>
              </c:ext>
            </c:extLst>
          </c:dPt>
          <c:dPt>
            <c:idx val="5"/>
            <c:invertIfNegative val="0"/>
            <c:bubble3D val="0"/>
            <c:spPr>
              <a:solidFill>
                <a:srgbClr val="FF5D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C5C-4081-9E59-0E01347695CA}"/>
              </c:ext>
            </c:extLst>
          </c:dPt>
          <c:dPt>
            <c:idx val="6"/>
            <c:invertIfNegative val="0"/>
            <c:bubble3D val="0"/>
            <c:spPr>
              <a:solidFill>
                <a:srgbClr val="FF5D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C5C-4081-9E59-0E01347695C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2F6F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Chest pain: ATA</c:v>
                </c:pt>
                <c:pt idx="1">
                  <c:v>ST slope: Up</c:v>
                </c:pt>
                <c:pt idx="2">
                  <c:v>Exercise angina: No</c:v>
                </c:pt>
                <c:pt idx="3">
                  <c:v>ST slope: Down</c:v>
                </c:pt>
                <c:pt idx="4">
                  <c:v>Chest pain: ASY</c:v>
                </c:pt>
                <c:pt idx="5">
                  <c:v>ST slope: Flat</c:v>
                </c:pt>
                <c:pt idx="6">
                  <c:v>Exercise angina: Yes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13.87</c:v>
                </c:pt>
                <c:pt idx="1">
                  <c:v>19.75</c:v>
                </c:pt>
                <c:pt idx="2">
                  <c:v>34.979999999999997</c:v>
                </c:pt>
                <c:pt idx="3">
                  <c:v>77.78</c:v>
                </c:pt>
                <c:pt idx="4">
                  <c:v>79.03</c:v>
                </c:pt>
                <c:pt idx="5">
                  <c:v>82.79</c:v>
                </c:pt>
                <c:pt idx="6">
                  <c:v>85.18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C5C-4081-9E59-0E01347695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0C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1E324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2F6F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2F6FA"/>
                </a:solidFill>
                <a:latin typeface="Calibri"/>
              </a:rPr>
              <a:t>Disease rate by cholesterol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5BB8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2F6F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Borderline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39.04</c:v>
                </c:pt>
                <c:pt idx="1">
                  <c:v>63.48</c:v>
                </c:pt>
                <c:pt idx="2">
                  <c:v>52.62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43-407E-BD75-CE3608DFFF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0C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1E324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2F6F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2F6FA"/>
                </a:solidFill>
                <a:latin typeface="Calibri"/>
              </a:rPr>
              <a:t>Disease rate by blood pressure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FFC8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2F6F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Elevated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54.37</c:v>
                </c:pt>
                <c:pt idx="1">
                  <c:v>50</c:v>
                </c:pt>
                <c:pt idx="2">
                  <c:v>62.69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95-4F6A-82A3-825E00AA4E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0C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1E324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2F6F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2F6FA"/>
                </a:solidFill>
                <a:latin typeface="Calibri"/>
              </a:rPr>
              <a:t>Test-set metrics (189 patients)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5BB8F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2F6F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AUC</c:v>
                </c:pt>
                <c:pt idx="1">
                  <c:v>Accuracy</c:v>
                </c:pt>
                <c:pt idx="2">
                  <c:v>Precision</c:v>
                </c:pt>
                <c:pt idx="3">
                  <c:v>Recall</c:v>
                </c:pt>
                <c:pt idx="4">
                  <c:v>F1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0.89639999999999997</c:v>
                </c:pt>
                <c:pt idx="1">
                  <c:v>0.81479999999999997</c:v>
                </c:pt>
                <c:pt idx="2">
                  <c:v>0.81810000000000005</c:v>
                </c:pt>
                <c:pt idx="3">
                  <c:v>0.81479999999999997</c:v>
                </c:pt>
                <c:pt idx="4">
                  <c:v>0.81369999999999998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C9-46DB-A045-F761FD17F9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2DE2A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2F6F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AUC</c:v>
                </c:pt>
                <c:pt idx="1">
                  <c:v>Accuracy</c:v>
                </c:pt>
                <c:pt idx="2">
                  <c:v>Precision</c:v>
                </c:pt>
                <c:pt idx="3">
                  <c:v>Recall</c:v>
                </c:pt>
                <c:pt idx="4">
                  <c:v>F1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0.9052</c:v>
                </c:pt>
                <c:pt idx="1">
                  <c:v>0.84660000000000002</c:v>
                </c:pt>
                <c:pt idx="2">
                  <c:v>0.84789999999999999</c:v>
                </c:pt>
                <c:pt idx="3">
                  <c:v>0.84660000000000002</c:v>
                </c:pt>
                <c:pt idx="4">
                  <c:v>0.84609999999999996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C9-46DB-A045-F761FD17F9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0C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1E324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FB0C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2F6F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2F6FA"/>
                </a:solidFill>
                <a:latin typeface="Calibri"/>
              </a:rPr>
              <a:t>Top 10 feature importances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5BB8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B01-4EAA-9D13-5B461D01263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B01-4EAA-9D13-5B461D01263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B01-4EAA-9D13-5B461D01263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B01-4EAA-9D13-5B461D01263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B01-4EAA-9D13-5B461D01263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DB01-4EAA-9D13-5B461D012633}"/>
              </c:ext>
            </c:extLst>
          </c:dPt>
          <c:dPt>
            <c:idx val="6"/>
            <c:invertIfNegative val="0"/>
            <c:bubble3D val="0"/>
            <c:spPr>
              <a:solidFill>
                <a:srgbClr val="FFC8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B01-4EAA-9D13-5B461D012633}"/>
              </c:ext>
            </c:extLst>
          </c:dPt>
          <c:dPt>
            <c:idx val="7"/>
            <c:invertIfNegative val="0"/>
            <c:bubble3D val="0"/>
            <c:spPr>
              <a:solidFill>
                <a:srgbClr val="FFC8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B01-4EAA-9D13-5B461D012633}"/>
              </c:ext>
            </c:extLst>
          </c:dPt>
          <c:dPt>
            <c:idx val="8"/>
            <c:invertIfNegative val="0"/>
            <c:bubble3D val="0"/>
            <c:spPr>
              <a:solidFill>
                <a:srgbClr val="FF5D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B01-4EAA-9D13-5B461D012633}"/>
              </c:ext>
            </c:extLst>
          </c:dPt>
          <c:dPt>
            <c:idx val="9"/>
            <c:invertIfNegative val="0"/>
            <c:bubble3D val="0"/>
            <c:spPr>
              <a:solidFill>
                <a:srgbClr val="FF5D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DB01-4EAA-9D13-5B461D012633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2F6F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Chest pain ATA</c:v>
                </c:pt>
                <c:pt idx="1">
                  <c:v>Cholesterol</c:v>
                </c:pt>
                <c:pt idx="2">
                  <c:v>Age</c:v>
                </c:pt>
                <c:pt idx="3">
                  <c:v>Max HR</c:v>
                </c:pt>
                <c:pt idx="4">
                  <c:v>Exercise angina N</c:v>
                </c:pt>
                <c:pt idx="5">
                  <c:v>Exercise angina Y</c:v>
                </c:pt>
                <c:pt idx="6">
                  <c:v>Oldpeak</c:v>
                </c:pt>
                <c:pt idx="7">
                  <c:v>Chest pain ASY</c:v>
                </c:pt>
                <c:pt idx="8">
                  <c:v>ST slope Flat</c:v>
                </c:pt>
                <c:pt idx="9">
                  <c:v>ST slope Up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2.69E-2</c:v>
                </c:pt>
                <c:pt idx="1">
                  <c:v>2.8400000000000002E-2</c:v>
                </c:pt>
                <c:pt idx="2">
                  <c:v>5.0599999999999999E-2</c:v>
                </c:pt>
                <c:pt idx="3">
                  <c:v>5.5800000000000002E-2</c:v>
                </c:pt>
                <c:pt idx="4">
                  <c:v>7.0800000000000002E-2</c:v>
                </c:pt>
                <c:pt idx="5">
                  <c:v>8.1799999999999998E-2</c:v>
                </c:pt>
                <c:pt idx="6">
                  <c:v>8.1900000000000001E-2</c:v>
                </c:pt>
                <c:pt idx="7">
                  <c:v>0.1181</c:v>
                </c:pt>
                <c:pt idx="8">
                  <c:v>0.13830000000000001</c:v>
                </c:pt>
                <c:pt idx="9">
                  <c:v>0.21870000000000001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DB01-4EAA-9D13-5B461D0126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0C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8000000000000003"/>
          <c:min val="0"/>
        </c:scaling>
        <c:delete val="0"/>
        <c:axPos val="b"/>
        <c:majorGridlines>
          <c:spPr>
            <a:ln w="6350" cap="flat">
              <a:solidFill>
                <a:srgbClr val="1E324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6498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project: a Big Data pipeline that stores patient records in HDFS, analyses them with Hive and Spark, and predicts heart disease with Spark MLlib.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Hospitals hold large volumes of patient data but high-risk patients are often found late. Link each finding to a business action. Insights are associations, not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Kaggle Heart Failure Prediction (UCI sources), 918 rows, 12 columns. Zero cholesterol and zero resting BP are physiologically impossible. Raw 918 -&gt; clean 917.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CSV into HDFS zones, then three consumers. YARN allocates resources. Same pipeline scales to millions of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HDFS: NameNode holds metadata, DataNodes hold blocks; separate zones. Hive: external table points at the directory, header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Transformations are lazy; actions like count() trigger execution. cache() helps because the cleaned DataFrame is reused.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 507 of 917 (55.29%). 32.5% under 40 to 73.12% at 60+. Men 63.12% vs women 25.91%; data is ~79% male so treat sex gap as association.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angina 85.18%, flat ST slope 82.79%, asymptomatic chest pain 79.03%. Low-risk: upsloping ST 19.75%, atypical angina 13.87%.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Imputed cholesterol median (237) falls inside Borderline, inflating that group. BP does not rise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models use the same Spark ML Pipeline. RF AUC 0.9052, accuracy 0.8466, F1 0.8461. LR AUC 0.8964, accuracy 0.8148. Weighted recall equals accuracy in Spark.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screening, recall on disease matters more than accuracy. RF found 88 of 99 and missed 11; LR found 87 and missed 12, with 23 false alarms vs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and the Hive/Spark analytics agree on the drivers: ST slope, asymptomatic chest pain, exercise angina.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HBase stores predicted risk by row key. P0004 is a real missed case from the test set. Keys are demo IDs: dataset has no patient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Analytics and model agree: flat or down ST slope, asymptomatic chest pain, exercise angina, older age and male sex are most associated with disease. Be honest about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E2A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8046720" cy="1005840"/>
          </a:xfrm>
          <a:custGeom>
            <a:avLst/>
            <a:gdLst/>
            <a:ahLst/>
            <a:cxnLst/>
            <a:rect l="l" t="t" r="r" b="b"/>
            <a:pathLst>
              <a:path w="8046720" h="1005840">
                <a:moveTo>
                  <a:pt x="0" y="502920"/>
                </a:moveTo>
                <a:lnTo>
                  <a:pt x="1448410" y="502920"/>
                </a:lnTo>
                <a:lnTo>
                  <a:pt x="1931213" y="452628"/>
                </a:lnTo>
                <a:lnTo>
                  <a:pt x="2414016" y="502920"/>
                </a:lnTo>
                <a:lnTo>
                  <a:pt x="3218688" y="502920"/>
                </a:lnTo>
                <a:lnTo>
                  <a:pt x="3540557" y="623621"/>
                </a:lnTo>
                <a:lnTo>
                  <a:pt x="4023360" y="0"/>
                </a:lnTo>
                <a:lnTo>
                  <a:pt x="4506163" y="1005840"/>
                </a:lnTo>
                <a:lnTo>
                  <a:pt x="4908499" y="502920"/>
                </a:lnTo>
                <a:lnTo>
                  <a:pt x="5793638" y="502920"/>
                </a:lnTo>
                <a:lnTo>
                  <a:pt x="6437376" y="352044"/>
                </a:lnTo>
                <a:lnTo>
                  <a:pt x="7242048" y="502920"/>
                </a:lnTo>
                <a:lnTo>
                  <a:pt x="8046720" y="502920"/>
                </a:lnTo>
              </a:path>
            </a:pathLst>
          </a:custGeom>
          <a:ln w="31750">
            <a:solidFill>
              <a:srgbClr val="2DE2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CAPSTONE  ·  HCL GUVI × JAIN UNIVERSITY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 Analytics &amp; Disease Prediction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Analytics Pipeline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 ·  Hive  ·  Spark MLlib  ·  YARN  ·  HBase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8046720" cy="0"/>
          </a:xfrm>
          <a:prstGeom prst="line">
            <a:avLst/>
          </a:prstGeom>
          <a:noFill/>
          <a:ln w="12700">
            <a:solidFill>
              <a:srgbClr val="2440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Himani Tuli   ·   Akash   ·   Anshuman   ·   Aditya   ·   Maulik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heart disease risk analytics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34440"/>
            <a:ext cx="3931920" cy="160020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71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459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hold huge volumes of patient records, yet high-risk patients are often found late. Cardiovascular disease is a leading cause of death worldwide.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3931920" cy="160020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3154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4290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analyse and model patient data at scale to find risk factors and flag high-risk patients early.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1234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RESULTS SUPPORT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1554480"/>
            <a:ext cx="4023360" cy="658368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1554480"/>
            <a:ext cx="54864" cy="65836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age / sex groups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892040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screening campaigns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2322576"/>
            <a:ext cx="4023360" cy="658368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63440" y="2322576"/>
            <a:ext cx="54864" cy="65836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92040" y="2414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symptom indicators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89204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triage checklists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63440" y="3090672"/>
            <a:ext cx="4023360" cy="658368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63440" y="3090672"/>
            <a:ext cx="54864" cy="65836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92040" y="3182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predictive features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892040" y="3438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data collection on key tests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663440" y="3858768"/>
            <a:ext cx="4023360" cy="658368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3858768"/>
            <a:ext cx="54864" cy="65836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92040" y="3950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high-risk patients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892040" y="4206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to cardiology follow-up</a:t>
            </a:r>
            <a:endParaRPr lang="en-US" sz="12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and data quality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34440"/>
            <a:ext cx="1920240" cy="91440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234440"/>
            <a:ext cx="54864" cy="914400"/>
          </a:xfrm>
          <a:prstGeom prst="rect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BB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918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8013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patient records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14600" y="1234440"/>
            <a:ext cx="1920240" cy="91440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14600" y="1234440"/>
            <a:ext cx="54864" cy="914400"/>
          </a:xfrm>
          <a:prstGeom prst="rect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9748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BB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18013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1234440"/>
            <a:ext cx="1920240" cy="91440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1234440"/>
            <a:ext cx="54864" cy="914400"/>
          </a:xfrm>
          <a:prstGeom prst="rect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5488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E2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917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18013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after cleaning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629400" y="1234440"/>
            <a:ext cx="2057400" cy="91440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29400" y="1234440"/>
            <a:ext cx="54864" cy="914400"/>
          </a:xfrm>
          <a:prstGeom prst="rect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12280" y="1325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D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55.29%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6812280" y="180136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heart disease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2377440"/>
            <a:ext cx="4114800" cy="224028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2377440"/>
            <a:ext cx="54864" cy="224028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2487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ISSUES HANDLED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278892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= 0 is impossible: imputed with median 237.0 and flagged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RestingBP = 0: one record removed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checked and dropped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754880" y="2377440"/>
            <a:ext cx="3931920" cy="224028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54880" y="2377440"/>
            <a:ext cx="54864" cy="2240280"/>
          </a:xfrm>
          <a:prstGeom prst="rect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983480" y="24871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AND TARGET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983480" y="27889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features: 6 numeric, 5 categorical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HeartDisease: 1 = disease, 0 = normal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Kaggle / UCI file heart.csv</a:t>
            </a:r>
            <a:endParaRPr lang="en-US" sz="13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Big Data architecture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2103120"/>
            <a:ext cx="1737360" cy="100584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2103120"/>
            <a:ext cx="54864" cy="1005840"/>
          </a:xfrm>
          <a:prstGeom prst="rect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194560"/>
            <a:ext cx="14630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B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heart.csv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626157"/>
            <a:ext cx="14630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0" y="2103120"/>
            <a:ext cx="1828800" cy="100584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0" y="2103120"/>
            <a:ext cx="54864" cy="1005840"/>
          </a:xfrm>
          <a:prstGeom prst="rect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26080" y="2194560"/>
            <a:ext cx="15544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E2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HDFS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2626157"/>
            <a:ext cx="15544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  processed/  results/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12080" y="1234440"/>
            <a:ext cx="1828800" cy="91440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12080" y="1234440"/>
            <a:ext cx="54864" cy="9144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94960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8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Hive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17099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212080" y="2331720"/>
            <a:ext cx="1828800" cy="91440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12080" y="2331720"/>
            <a:ext cx="54864" cy="914400"/>
          </a:xfrm>
          <a:prstGeom prst="rect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9496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D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Spark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394960" y="28072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PySpark: clean, analyse, MLlib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212080" y="3429000"/>
            <a:ext cx="1828800" cy="91440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12080" y="3429000"/>
            <a:ext cx="54864" cy="914400"/>
          </a:xfrm>
          <a:prstGeom prst="rect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394960" y="3520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B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HBase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394960" y="39044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risk-score lookup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406640" y="2331720"/>
            <a:ext cx="1371600" cy="91440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06640" y="2331720"/>
            <a:ext cx="54864" cy="914400"/>
          </a:xfrm>
          <a:prstGeom prst="rect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589520" y="2423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E2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589520" y="28072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+ metrics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194560" y="2606040"/>
            <a:ext cx="548640" cy="0"/>
          </a:xfrm>
          <a:prstGeom prst="line">
            <a:avLst/>
          </a:prstGeom>
          <a:noFill/>
          <a:ln w="19050">
            <a:solidFill>
              <a:srgbClr val="9FB0C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 flipV="1">
            <a:off x="4572000" y="1691640"/>
            <a:ext cx="640080" cy="914400"/>
          </a:xfrm>
          <a:prstGeom prst="line">
            <a:avLst/>
          </a:prstGeom>
          <a:noFill/>
          <a:ln w="19050">
            <a:solidFill>
              <a:srgbClr val="9FB0C3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4572000" y="2606040"/>
            <a:ext cx="640080" cy="182880"/>
          </a:xfrm>
          <a:prstGeom prst="line">
            <a:avLst/>
          </a:prstGeom>
          <a:noFill/>
          <a:ln w="19050">
            <a:solidFill>
              <a:srgbClr val="9FB0C3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4572000" y="2606040"/>
            <a:ext cx="640080" cy="1280160"/>
          </a:xfrm>
          <a:prstGeom prst="line">
            <a:avLst/>
          </a:prstGeom>
          <a:noFill/>
          <a:ln w="19050">
            <a:solidFill>
              <a:srgbClr val="9FB0C3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7040880" y="2788920"/>
            <a:ext cx="365760" cy="0"/>
          </a:xfrm>
          <a:prstGeom prst="line">
            <a:avLst/>
          </a:prstGeom>
          <a:noFill/>
          <a:ln w="19050">
            <a:solidFill>
              <a:srgbClr val="9FB0C3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457200" y="4434840"/>
            <a:ext cx="7772400" cy="54864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" y="44348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manages cluster resources. Built to scale: same pipeline for millions of records using Parquet, Hive partitions and more Spark workers.</a:t>
            </a:r>
            <a:endParaRPr lang="en-US" sz="12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ENVIRONMENT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Data stack running in Docker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5577840" cy="3474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pic>
        <p:nvPicPr>
          <p:cNvPr id="26" name="Picture 25" descr="1791223212709_Screenshot_2026-10-05_233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63159"/>
            <a:ext cx="5431536" cy="2725842"/>
          </a:xfrm>
          <a:prstGeom prst="rect">
            <a:avLst/>
          </a:prstGeom>
          <a:ln w="9525">
            <a:solidFill>
              <a:srgbClr val="24405E"/>
            </a:solidFill>
          </a:ln>
        </p:spPr>
      </p:pic>
      <p:sp>
        <p:nvSpPr>
          <p:cNvPr id="8" name="Shape 4"/>
          <p:cNvSpPr/>
          <p:nvPr/>
        </p:nvSpPr>
        <p:spPr>
          <a:xfrm>
            <a:off x="6172200" y="1188720"/>
            <a:ext cx="2514600" cy="3474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172200" y="1188720"/>
            <a:ext cx="54864" cy="34747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0" y="1325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1691720"/>
            <a:ext cx="2057400" cy="283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bigdata with 13 containers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Green: Jupyter, Spark master and worker, HBase, Hive, YARN, DataNode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 is stopped (not used in this run)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SQL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HDFS storage and Hive SQL layer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34440"/>
            <a:ext cx="4023360" cy="338328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234440"/>
            <a:ext cx="54864" cy="3383280"/>
          </a:xfrm>
          <a:prstGeom prst="rect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HDFS: DISTRIBUTED STORAGE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/data/healthcare/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raw/         heart.csv (35.9 kB)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processed/   heart_clean (Parquet)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results/     rate_by_*, rf_predictions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8803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with docker cp, then hdfs dfs -put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-ls, -du and fsck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zones for raw, cleaned and output data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4023360" cy="338328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234440"/>
            <a:ext cx="54864" cy="338328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9204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HIVE: SQL OVER THE SAME FILES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table on /data/healthcare/raw (schema-on-read, header skipped)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queries: prevalence, rates by sex, age, chest pain, angina x ST slope, zero-value checks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function: RANK() OVER (PARTITION BY sex)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saved as managed table chest_pain_summary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HDFS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HDFS load verified in the terminal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165184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pic>
        <p:nvPicPr>
          <p:cNvPr id="26" name="Picture 25" descr="1791282626423_Screenshot_2026-10-06_16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3" y="1261872"/>
            <a:ext cx="8083294" cy="1505536"/>
          </a:xfrm>
          <a:prstGeom prst="rect">
            <a:avLst/>
          </a:prstGeom>
          <a:ln w="9525">
            <a:solidFill>
              <a:srgbClr val="24405E"/>
            </a:solidFill>
          </a:ln>
        </p:spPr>
      </p:pic>
      <p:sp>
        <p:nvSpPr>
          <p:cNvPr id="8" name="Shape 4"/>
          <p:cNvSpPr/>
          <p:nvPr/>
        </p:nvSpPr>
        <p:spPr>
          <a:xfrm>
            <a:off x="457200" y="2977720"/>
            <a:ext cx="8229600" cy="1685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2977720"/>
            <a:ext cx="54864" cy="16857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3114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480720"/>
            <a:ext cx="7772400" cy="10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cp copied the dataset (35.9 kB) into the namenode container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3.2.1 hdfs created /data/healthcare/raw; put reported File exists, so it was already loaded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-ls lists heart.csv, 35,921 bytes, in /data/healthcare/raw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Spark: clean, derive, analyse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325880"/>
            <a:ext cx="1554480" cy="2331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325880"/>
            <a:ext cx="54864" cy="2331720"/>
          </a:xfrm>
          <a:prstGeom prst="rect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417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BB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profile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19456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from hdfs://namenode:8020 with inferSchema; null, duplicate, zero checks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21408" y="1325880"/>
            <a:ext cx="1554480" cy="2331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325880"/>
            <a:ext cx="54864" cy="2331720"/>
          </a:xfrm>
          <a:prstGeom prst="rect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86000" y="1417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DE2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2286000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286000" y="219456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duplicates, remove RestingBP = 0, impute cholesterol median 237.0 with a flag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85616" y="1325880"/>
            <a:ext cx="1554480" cy="2331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85616" y="1325880"/>
            <a:ext cx="54864" cy="23317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0208" y="1417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C8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3950208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950208" y="219456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age_group, chol_category and bp_category columns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49824" y="1325880"/>
            <a:ext cx="1554480" cy="2331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49824" y="1325880"/>
            <a:ext cx="54864" cy="2331720"/>
          </a:xfrm>
          <a:prstGeom prst="rect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614416" y="1417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5D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5614416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614416" y="219456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cases and disease % for 7 factors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114032" y="1325880"/>
            <a:ext cx="1554480" cy="2331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14032" y="1325880"/>
            <a:ext cx="54864" cy="2331720"/>
          </a:xfrm>
          <a:prstGeom prst="rect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278624" y="1417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BB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7278624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278624" y="219456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to processed/; rate tables and predictions to results/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7200" y="3886200"/>
            <a:ext cx="54864" cy="731520"/>
          </a:xfrm>
          <a:prstGeom prst="rect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5800" y="3886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 </a:t>
            </a: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cache() on the cleaned data, repartition(4) on write, explain() for the physical plan</a:t>
            </a:r>
            <a:endParaRPr lang="en-US" sz="13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SPARK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Spark output and execution plan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pic>
        <p:nvPicPr>
          <p:cNvPr id="26" name="Picture 25" descr="1791283604344_Screenshot_2026-10-06_1611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91" y="1170432"/>
            <a:ext cx="8047017" cy="3419855"/>
          </a:xfrm>
          <a:prstGeom prst="rect">
            <a:avLst/>
          </a:prstGeom>
          <a:ln w="9525">
            <a:solidFill>
              <a:srgbClr val="24405E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rises with age and is higher in men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5120640" cy="3474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280160"/>
          <a:ext cx="49377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5852160" y="1188720"/>
            <a:ext cx="2834640" cy="100584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852160" y="1188720"/>
            <a:ext cx="54864" cy="100584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035040" y="1280160"/>
            <a:ext cx="25603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8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55.29%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6035040" y="1812341"/>
            <a:ext cx="256032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917 patients: 507 with disease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852160" y="2331720"/>
            <a:ext cx="2834640" cy="100584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852160" y="2331720"/>
            <a:ext cx="54864" cy="1005840"/>
          </a:xfrm>
          <a:prstGeom prst="rect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035040" y="2423160"/>
            <a:ext cx="25603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D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63.12%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6035040" y="2955341"/>
            <a:ext cx="256032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men (724 patients)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852160" y="3474720"/>
            <a:ext cx="2834640" cy="100584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52160" y="3474720"/>
            <a:ext cx="54864" cy="1005840"/>
          </a:xfrm>
          <a:prstGeom prst="rect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035040" y="3566160"/>
            <a:ext cx="25603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E2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25.91%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6035040" y="4098341"/>
            <a:ext cx="256032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women (193 patients)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Symptoms and ECG findings separate risk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5486400" cy="3474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28016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6126480" y="1188720"/>
            <a:ext cx="2560320" cy="3474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126480" y="1188720"/>
            <a:ext cx="54864" cy="34747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55080" y="1325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355080" y="169164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high-risk findings; mint: low-risk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Asymptomatic chest pain is riskiest, not typical angina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and cholesterol show weaker, non-linear patterns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Cholesterol and BP: weaker signals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4023360" cy="274320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3440" y="1188720"/>
            <a:ext cx="4023360" cy="274320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graphicFrame>
        <p:nvGraphicFramePr>
          <p:cNvPr id="8" name="Chart 0"/>
          <p:cNvGraphicFramePr/>
          <p:nvPr/>
        </p:nvGraphicFramePr>
        <p:xfrm>
          <a:off x="502920" y="1234440"/>
          <a:ext cx="39319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4709160" y="1234440"/>
          <a:ext cx="39319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5"/>
          <p:cNvSpPr/>
          <p:nvPr/>
        </p:nvSpPr>
        <p:spPr>
          <a:xfrm>
            <a:off x="457200" y="4114800"/>
            <a:ext cx="4023360" cy="54864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57200" y="4114800"/>
            <a:ext cx="54864" cy="548640"/>
          </a:xfrm>
          <a:prstGeom prst="rect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40080" y="4114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Cholesterol: 146 / 408 / 363 patients (Normal / Borderline / High)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663440" y="4114800"/>
            <a:ext cx="4023360" cy="54864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663440" y="4114800"/>
            <a:ext cx="54864" cy="548640"/>
          </a:xfrm>
          <a:prstGeom prst="rect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846320" y="4114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pressure: 160 / 430 / 327 patients (Normal / Elevated / High)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SPARK ANALYTICS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Disease-rate tables from our PySpark run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113287" cy="3474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pic>
        <p:nvPicPr>
          <p:cNvPr id="26" name="Picture 25" descr="1791283994114_Screenshot_2026-10-06_1622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2966983" cy="3328415"/>
          </a:xfrm>
          <a:prstGeom prst="rect">
            <a:avLst/>
          </a:prstGeom>
          <a:ln w="9525">
            <a:solidFill>
              <a:srgbClr val="24405E"/>
            </a:solidFill>
          </a:ln>
        </p:spPr>
      </p:pic>
      <p:sp>
        <p:nvSpPr>
          <p:cNvPr id="8" name="Shape 4"/>
          <p:cNvSpPr/>
          <p:nvPr/>
        </p:nvSpPr>
        <p:spPr>
          <a:xfrm>
            <a:off x="3707647" y="1188720"/>
            <a:ext cx="4979153" cy="3474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707647" y="1188720"/>
            <a:ext cx="54864" cy="34747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936247" y="1325880"/>
            <a:ext cx="45219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READINGS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936247" y="1691720"/>
            <a:ext cx="4521953" cy="283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Sex: men 63.12%, women 25.91%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32.50% under 40 rising to 73.12% at 60+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pain: ASY 79.03%, ATA 13.87%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angina Yes 85.18%; ST slope Flat 82.79%, Up 19.75%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and BP: weaker, non-linear patterns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beats Logistic Regression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2834640" cy="3474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188720"/>
            <a:ext cx="54864" cy="3474720"/>
          </a:xfrm>
          <a:prstGeom prst="rect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25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4592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StringIndexer, OneHotEncoder, VectorAssembler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split, seed 42: 728 train, 189 test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100 trees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 on every metric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74720" y="1188720"/>
            <a:ext cx="5212080" cy="3474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graphicFrame>
        <p:nvGraphicFramePr>
          <p:cNvPr id="11" name="Chart 0"/>
          <p:cNvGraphicFramePr/>
          <p:nvPr/>
        </p:nvGraphicFramePr>
        <p:xfrm>
          <a:off x="3566160" y="128016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models err: confusion matrices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4023360" cy="274320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188720"/>
            <a:ext cx="54864" cy="2743200"/>
          </a:xfrm>
          <a:prstGeom prst="rect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BB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1645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normal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063240" y="1645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disease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normal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154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disease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828800" y="1920240"/>
            <a:ext cx="1188720" cy="914400"/>
          </a:xfrm>
          <a:prstGeom prst="rect">
            <a:avLst/>
          </a:prstGeom>
          <a:solidFill>
            <a:srgbClr val="0B1320"/>
          </a:solidFill>
          <a:ln w="19050">
            <a:solidFill>
              <a:srgbClr val="2DE2A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28800" y="19933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E2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2487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063240" y="1920240"/>
            <a:ext cx="1188720" cy="914400"/>
          </a:xfrm>
          <a:prstGeom prst="rect">
            <a:avLst/>
          </a:prstGeom>
          <a:solidFill>
            <a:srgbClr val="0B1320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63240" y="19933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C8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3063240" y="2487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828800" y="2880360"/>
            <a:ext cx="1188720" cy="914400"/>
          </a:xfrm>
          <a:prstGeom prst="rect">
            <a:avLst/>
          </a:prstGeom>
          <a:solidFill>
            <a:srgbClr val="0B1320"/>
          </a:solidFill>
          <a:ln w="19050">
            <a:solidFill>
              <a:srgbClr val="FF5D7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828800" y="29535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5D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828800" y="34472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case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063240" y="2880360"/>
            <a:ext cx="1188720" cy="914400"/>
          </a:xfrm>
          <a:prstGeom prst="rect">
            <a:avLst/>
          </a:prstGeom>
          <a:solidFill>
            <a:srgbClr val="0B1320"/>
          </a:solidFill>
          <a:ln w="19050">
            <a:solidFill>
              <a:srgbClr val="2DE2A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063240" y="29535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E2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3063240" y="34472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1188720"/>
            <a:ext cx="4023360" cy="274320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63440" y="1188720"/>
            <a:ext cx="54864" cy="2743200"/>
          </a:xfrm>
          <a:prstGeom prst="rect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920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DE2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080760" y="1645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normal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269480" y="1645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disease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4800600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normal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800600" y="3154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disease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035040" y="1920240"/>
            <a:ext cx="1188720" cy="914400"/>
          </a:xfrm>
          <a:prstGeom prst="rect">
            <a:avLst/>
          </a:prstGeom>
          <a:solidFill>
            <a:srgbClr val="0B1320"/>
          </a:solidFill>
          <a:ln w="19050">
            <a:solidFill>
              <a:srgbClr val="2DE2A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035040" y="19933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E2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6035040" y="2487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269480" y="1920240"/>
            <a:ext cx="1188720" cy="914400"/>
          </a:xfrm>
          <a:prstGeom prst="rect">
            <a:avLst/>
          </a:prstGeom>
          <a:solidFill>
            <a:srgbClr val="0B1320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269480" y="19933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C8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2400" dirty="0"/>
          </a:p>
        </p:txBody>
      </p:sp>
      <p:sp>
        <p:nvSpPr>
          <p:cNvPr id="37" name="Text 34"/>
          <p:cNvSpPr txBox="1"/>
          <p:nvPr/>
        </p:nvSpPr>
        <p:spPr>
          <a:xfrm>
            <a:off x="7269480" y="2487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035040" y="2880360"/>
            <a:ext cx="1188720" cy="914400"/>
          </a:xfrm>
          <a:prstGeom prst="rect">
            <a:avLst/>
          </a:prstGeom>
          <a:solidFill>
            <a:srgbClr val="0B1320"/>
          </a:solidFill>
          <a:ln w="19050">
            <a:solidFill>
              <a:srgbClr val="FF5D7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035040" y="29535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5D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400" dirty="0"/>
          </a:p>
        </p:txBody>
      </p:sp>
      <p:sp>
        <p:nvSpPr>
          <p:cNvPr id="40" name="Text 37"/>
          <p:cNvSpPr txBox="1"/>
          <p:nvPr/>
        </p:nvSpPr>
        <p:spPr>
          <a:xfrm>
            <a:off x="6035040" y="34472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case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269480" y="2880360"/>
            <a:ext cx="1188720" cy="914400"/>
          </a:xfrm>
          <a:prstGeom prst="rect">
            <a:avLst/>
          </a:prstGeom>
          <a:solidFill>
            <a:srgbClr val="0B1320"/>
          </a:solidFill>
          <a:ln w="19050">
            <a:solidFill>
              <a:srgbClr val="2DE2A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269480" y="29535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E2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</a:t>
            </a:r>
            <a:endParaRPr lang="en-US" sz="2400" dirty="0"/>
          </a:p>
        </p:txBody>
      </p:sp>
      <p:sp>
        <p:nvSpPr>
          <p:cNvPr id="43" name="Text 40"/>
          <p:cNvSpPr txBox="1"/>
          <p:nvPr/>
        </p:nvSpPr>
        <p:spPr>
          <a:xfrm>
            <a:off x="7269480" y="34472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57200" y="4069080"/>
            <a:ext cx="4023360" cy="59436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57200" y="4069080"/>
            <a:ext cx="54864" cy="594360"/>
          </a:xfrm>
          <a:prstGeom prst="rect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8580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B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 recall  87 / 99 = 0.879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4663440" y="4069080"/>
            <a:ext cx="4023360" cy="59436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663440" y="4069080"/>
            <a:ext cx="54864" cy="594360"/>
          </a:xfrm>
          <a:prstGeom prst="rect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89204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E2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 recall  88 / 99 = 0.889</a:t>
            </a:r>
            <a:endParaRPr lang="en-US" sz="15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drives the Random Forest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5394960" cy="3474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280160"/>
          <a:ext cx="5212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6035040" y="1188720"/>
            <a:ext cx="2651760" cy="3474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035040" y="1188720"/>
            <a:ext cx="54864" cy="34747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6364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169164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slope is the strongest signal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Asymptomatic chest pain ranks third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angina and oldpeak follow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agrees with Hive and Spark analytics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HBase risk lookup and component roles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4572000" cy="3474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188720"/>
            <a:ext cx="54864" cy="3474720"/>
          </a:xfrm>
          <a:prstGeom prst="rect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25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HBASE: patient_risk TABLE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27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families info and risk; two real Random Forest test predictions loaded.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B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B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B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B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2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2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 M, ASY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2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E2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(correct)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2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2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 M, ASY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2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5D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(missed)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8580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Row-key lookup is what HBase is built for; Hive and plain files are not.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212080" y="1188720"/>
            <a:ext cx="3474720" cy="347472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212080" y="1188720"/>
            <a:ext cx="54864" cy="3474720"/>
          </a:xfrm>
          <a:prstGeom prst="rect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5" name="Text 10"/>
          <p:cNvSpPr txBox="1"/>
          <p:nvPr/>
        </p:nvSpPr>
        <p:spPr>
          <a:xfrm>
            <a:off x="5440680" y="1325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40680" y="1691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raw, cleaned and result data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440680" y="227685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263640" y="22768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 over the files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440680" y="28620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263640" y="28620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aggregation and MLlib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440680" y="34472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263640" y="34472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5440680" y="40325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263640" y="40325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risk-score lookup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417320" cy="411480"/>
          </a:xfrm>
          <a:custGeom>
            <a:avLst/>
            <a:gdLst/>
            <a:ahLst/>
            <a:cxnLst/>
            <a:rect l="l" t="t" r="r" b="b"/>
            <a:pathLst>
              <a:path w="1417320" h="411480">
                <a:moveTo>
                  <a:pt x="0" y="205740"/>
                </a:moveTo>
                <a:lnTo>
                  <a:pt x="255118" y="205740"/>
                </a:lnTo>
                <a:lnTo>
                  <a:pt x="340157" y="185166"/>
                </a:lnTo>
                <a:lnTo>
                  <a:pt x="425196" y="205740"/>
                </a:lnTo>
                <a:lnTo>
                  <a:pt x="566928" y="205740"/>
                </a:lnTo>
                <a:lnTo>
                  <a:pt x="623621" y="255118"/>
                </a:lnTo>
                <a:lnTo>
                  <a:pt x="708660" y="0"/>
                </a:lnTo>
                <a:lnTo>
                  <a:pt x="793699" y="411480"/>
                </a:lnTo>
                <a:lnTo>
                  <a:pt x="864565" y="205740"/>
                </a:lnTo>
                <a:lnTo>
                  <a:pt x="1020470" y="205740"/>
                </a:lnTo>
                <a:lnTo>
                  <a:pt x="1133856" y="144018"/>
                </a:lnTo>
                <a:lnTo>
                  <a:pt x="1275588" y="205740"/>
                </a:lnTo>
                <a:lnTo>
                  <a:pt x="1417320" y="205740"/>
                </a:lnTo>
              </a:path>
            </a:pathLst>
          </a:custGeom>
          <a:ln w="15875">
            <a:solidFill>
              <a:srgbClr val="2DE2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2651760" cy="100584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280160"/>
            <a:ext cx="23774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E2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0.905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812341"/>
            <a:ext cx="237744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Random Forest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651760" cy="100584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188720"/>
            <a:ext cx="54864" cy="1005840"/>
          </a:xfrm>
          <a:prstGeom prst="rect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29000" y="1280160"/>
            <a:ext cx="23774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BB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84.7%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1812341"/>
            <a:ext cx="237744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1188720"/>
            <a:ext cx="2651760" cy="100584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1188720"/>
            <a:ext cx="54864" cy="1005840"/>
          </a:xfrm>
          <a:prstGeom prst="rect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1280160"/>
            <a:ext cx="23774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D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 of 99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1812341"/>
            <a:ext cx="237744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cases found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377440"/>
            <a:ext cx="4023360" cy="228600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2377440"/>
            <a:ext cx="54864" cy="22860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2487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2788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single-source data: 917 rows, 79% male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cholesterol all lands in Borderline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split, no clinical validation: a prototype, not a diagnosis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663440" y="2377440"/>
            <a:ext cx="4023360" cy="2286000"/>
          </a:xfrm>
          <a:prstGeom prst="rect">
            <a:avLst/>
          </a:prstGeom>
          <a:solidFill>
            <a:srgbClr val="132033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63440" y="2377440"/>
            <a:ext cx="54864" cy="2286000"/>
          </a:xfrm>
          <a:prstGeom prst="rect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92040" y="2487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892040" y="2788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EHR data such as CDC BRFSS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partitioning and cross-validation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to raise recall</a:t>
            </a:r>
            <a:endParaRPr lang="en-US" sz="125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8046720" cy="1097280"/>
          </a:xfrm>
          <a:custGeom>
            <a:avLst/>
            <a:gdLst/>
            <a:ahLst/>
            <a:cxnLst/>
            <a:rect l="l" t="t" r="r" b="b"/>
            <a:pathLst>
              <a:path w="8046720" h="1097280">
                <a:moveTo>
                  <a:pt x="0" y="548640"/>
                </a:moveTo>
                <a:lnTo>
                  <a:pt x="1448410" y="548640"/>
                </a:lnTo>
                <a:lnTo>
                  <a:pt x="1931213" y="493776"/>
                </a:lnTo>
                <a:lnTo>
                  <a:pt x="2414016" y="548640"/>
                </a:lnTo>
                <a:lnTo>
                  <a:pt x="3218688" y="548640"/>
                </a:lnTo>
                <a:lnTo>
                  <a:pt x="3540557" y="680314"/>
                </a:lnTo>
                <a:lnTo>
                  <a:pt x="4023360" y="0"/>
                </a:lnTo>
                <a:lnTo>
                  <a:pt x="4506163" y="1097280"/>
                </a:lnTo>
                <a:lnTo>
                  <a:pt x="4908499" y="548640"/>
                </a:lnTo>
                <a:lnTo>
                  <a:pt x="5793638" y="548640"/>
                </a:lnTo>
                <a:lnTo>
                  <a:pt x="6437376" y="384048"/>
                </a:lnTo>
                <a:lnTo>
                  <a:pt x="7242048" y="548640"/>
                </a:lnTo>
                <a:lnTo>
                  <a:pt x="8046720" y="548640"/>
                </a:lnTo>
              </a:path>
            </a:pathLst>
          </a:custGeom>
          <a:ln w="31750">
            <a:solidFill>
              <a:srgbClr val="2DE2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2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Disease Prediction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Himani Tuli   ·   Akash   ·   Anshuman   ·   Aditya   ·   Maulik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0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1590</Words>
  <Application>Microsoft Office PowerPoint</Application>
  <PresentationFormat>On-screen Show (16:9)</PresentationFormat>
  <Paragraphs>273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Analytics &amp; Disease Prediction</dc:title>
  <dc:subject>PptxGenJS Presentation</dc:subject>
  <dc:creator>Himani Tuli, Akash, Anshuman, Aditya, Maulik</dc:creator>
  <cp:lastModifiedBy>Maulik Chothani</cp:lastModifiedBy>
  <cp:revision>1</cp:revision>
  <dcterms:created xsi:type="dcterms:W3CDTF">2026-10-06T12:47:37Z</dcterms:created>
  <dcterms:modified xsi:type="dcterms:W3CDTF">2026-10-07T04:14:51Z</dcterms:modified>
</cp:coreProperties>
</file>