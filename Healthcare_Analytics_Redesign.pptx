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B2B2C"/>
                </a:solidFill>
                <a:latin typeface="Calibri"/>
              </a:rPr>
              <a:t>Heart disease rate by age group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Disease rate (%)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Under 40</c:v>
                  </c:pt>
                  <c:pt idx="1">
                    <c:v>40-49</c:v>
                  </c:pt>
                  <c:pt idx="2">
                    <c:v>50-59</c:v>
                  </c:pt>
                  <c:pt idx="3">
                    <c:v>60+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32.5</c:v>
                </c:pt>
                <c:pt idx="1">
                  <c:v>40.28</c:v>
                </c:pt>
                <c:pt idx="2">
                  <c:v>56.57</c:v>
                </c:pt>
                <c:pt idx="3">
                  <c:v>73.12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CE6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B2B2C"/>
                </a:solidFill>
                <a:latin typeface="Calibri"/>
              </a:rPr>
              <a:t>Heart disease rate by finding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Disease rate (%)</c:v>
                </c:pt>
              </c:strCache>
            </c:strRef>
          </c:tx>
          <c:spPr>
            <a:solidFill>
              <a:srgbClr val="7FB7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Chest pain: ATA</c:v>
                  </c:pt>
                  <c:pt idx="1">
                    <c:v>ST slope: Up</c:v>
                  </c:pt>
                  <c:pt idx="2">
                    <c:v>Exercise angina: No</c:v>
                  </c:pt>
                  <c:pt idx="3">
                    <c:v>ST slope: Down</c:v>
                  </c:pt>
                  <c:pt idx="4">
                    <c:v>Chest pain: ASY</c:v>
                  </c:pt>
                  <c:pt idx="5">
                    <c:v>ST slope: Flat</c:v>
                  </c:pt>
                  <c:pt idx="6">
                    <c:v>Exercise angina: Yes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13.87</c:v>
                </c:pt>
                <c:pt idx="1">
                  <c:v>19.75</c:v>
                </c:pt>
                <c:pt idx="2">
                  <c:v>34.98</c:v>
                </c:pt>
                <c:pt idx="3">
                  <c:v>77.78</c:v>
                </c:pt>
                <c:pt idx="4">
                  <c:v>79.03</c:v>
                </c:pt>
                <c:pt idx="5">
                  <c:v>82.79</c:v>
                </c:pt>
                <c:pt idx="6">
                  <c:v>85.18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DCE6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B2B2C"/>
                </a:solidFill>
                <a:latin typeface="Calibri"/>
              </a:rPr>
              <a:t>Disease rate by cholesterol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Normal</c:v>
                  </c:pt>
                  <c:pt idx="1">
                    <c:v>Borderline</c:v>
                  </c:pt>
                  <c:pt idx="2">
                    <c:v>High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39.04</c:v>
                </c:pt>
                <c:pt idx="1">
                  <c:v>63.48</c:v>
                </c:pt>
                <c:pt idx="2">
                  <c:v>52.62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CE6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B2B2C"/>
                </a:solidFill>
                <a:latin typeface="Calibri"/>
              </a:rPr>
              <a:t>Disease rate by blood pressure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Normal</c:v>
                  </c:pt>
                  <c:pt idx="1">
                    <c:v>Elevated</c:v>
                  </c:pt>
                  <c:pt idx="2">
                    <c:v>High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54.37</c:v>
                </c:pt>
                <c:pt idx="1">
                  <c:v>50</c:v>
                </c:pt>
                <c:pt idx="2">
                  <c:v>62.69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CE6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B2B2C"/>
                </a:solidFill>
                <a:latin typeface="Calibri"/>
              </a:rPr>
              <a:t>Test-set metrics (189 patients)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Regression</c:v>
                </c:pt>
              </c:strCache>
            </c:strRef>
          </c:tx>
          <c:spPr>
            <a:solidFill>
              <a:srgbClr val="7FB7A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B2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AUC</c:v>
                  </c:pt>
                  <c:pt idx="1">
                    <c:v>Accuracy</c:v>
                  </c:pt>
                  <c:pt idx="2">
                    <c:v>Precision</c:v>
                  </c:pt>
                  <c:pt idx="3">
                    <c:v>Recall</c:v>
                  </c:pt>
                  <c:pt idx="4">
                    <c:v>F1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0.8964</c:v>
                </c:pt>
                <c:pt idx="1">
                  <c:v>0.8148</c:v>
                </c:pt>
                <c:pt idx="2">
                  <c:v>0.8181</c:v>
                </c:pt>
                <c:pt idx="3">
                  <c:v>0.8148</c:v>
                </c:pt>
                <c:pt idx="4">
                  <c:v>0.8137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B2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AUC</c:v>
                  </c:pt>
                  <c:pt idx="1">
                    <c:v>Accuracy</c:v>
                  </c:pt>
                  <c:pt idx="2">
                    <c:v>Precision</c:v>
                  </c:pt>
                  <c:pt idx="3">
                    <c:v>Recall</c:v>
                  </c:pt>
                  <c:pt idx="4">
                    <c:v>F1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0.9052</c:v>
                </c:pt>
                <c:pt idx="1">
                  <c:v>0.8466</c:v>
                </c:pt>
                <c:pt idx="2">
                  <c:v>0.8479</c:v>
                </c:pt>
                <c:pt idx="3">
                  <c:v>0.8466</c:v>
                </c:pt>
                <c:pt idx="4">
                  <c:v>0.8461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B2B2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6"/>
        </c:scaling>
        <c:delete val="0"/>
        <c:axPos val="l"/>
        <c:majorGridlines>
          <c:spPr>
            <a:ln w="6350" cap="flat">
              <a:solidFill>
                <a:srgbClr val="DCE6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B2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B2B2C"/>
                </a:solidFill>
                <a:latin typeface="Calibri"/>
              </a:rPr>
              <a:t>Top 10 feature importances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7FB7A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B2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FB7A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Chest pain ATA</c:v>
                  </c:pt>
                  <c:pt idx="1">
                    <c:v>Cholesterol</c:v>
                  </c:pt>
                  <c:pt idx="2">
                    <c:v>Age</c:v>
                  </c:pt>
                  <c:pt idx="3">
                    <c:v>Max HR</c:v>
                  </c:pt>
                  <c:pt idx="4">
                    <c:v>Exercise angina N</c:v>
                  </c:pt>
                  <c:pt idx="5">
                    <c:v>Exercise angina Y</c:v>
                  </c:pt>
                  <c:pt idx="6">
                    <c:v>Oldpeak</c:v>
                  </c:pt>
                  <c:pt idx="7">
                    <c:v>Chest pain ASY</c:v>
                  </c:pt>
                  <c:pt idx="8">
                    <c:v>ST slope Flat</c:v>
                  </c:pt>
                  <c:pt idx="9">
                    <c:v>ST slope Up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0.0269</c:v>
                </c:pt>
                <c:pt idx="1">
                  <c:v>0.0284</c:v>
                </c:pt>
                <c:pt idx="2">
                  <c:v>0.0506</c:v>
                </c:pt>
                <c:pt idx="3">
                  <c:v>0.0558</c:v>
                </c:pt>
                <c:pt idx="4">
                  <c:v>0.0708</c:v>
                </c:pt>
                <c:pt idx="5">
                  <c:v>0.0818</c:v>
                </c:pt>
                <c:pt idx="6">
                  <c:v>0.0819</c:v>
                </c:pt>
                <c:pt idx="7">
                  <c:v>0.1181</c:v>
                </c:pt>
                <c:pt idx="8">
                  <c:v>0.1383</c:v>
                </c:pt>
                <c:pt idx="9">
                  <c:v>0.2187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1B2B2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8"/>
          <c:min val="0"/>
        </c:scaling>
        <c:delete val="0"/>
        <c:axPos val="b"/>
        <c:majorGridlines>
          <c:spPr>
            <a:ln w="6350" cap="flat">
              <a:solidFill>
                <a:srgbClr val="DCE6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F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project: a Big Data pipeline that stores patient records in HDFS, analyses them with Hive and Spark, and predicts heart disease with Spark MLlib.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Hospitals hold large volumes of patient data but high-risk patients are often found late. Link each finding to an action. Insights are associations, not diagnosis.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Kaggle Heart Failure Prediction (UCI sources), 918 rows, 12 columns. Zero cholesterol and zero resting BP are physiologically impossible.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CSV into HDFS zones, then three consumers. YARN allocates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HDFS: NameNode holds metadata, DataNodes hold blocks; separate zones. Hive: external table points at the directory, header skipped.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Transformations are lazy; actions like count() trigger execution. cache() helps because the cleaned DataFrame is reused.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Overall 507 of 917 (55.29%). 32.5% under 40 to 73.12% at 60+. Men 63.12% vs women 25.91%; data is ~79% male so treat sex gap as association.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Exercise angina 85.18%, flat ST slope 82.79%, asymptomatic chest pain 79.03%. Low-risk: upsloping ST 19.75%, atypical angina 13.87%.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Imputed cholesterol median (237) falls inside Borderline, inflating that group. BP does not rise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models use the same Spark ML Pipeline. RF AUC 0.9052, accuracy 0.8466, F1 0.8461. LR AUC 0.8964, accuracy 0.8148.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screening, recall on disease matters more than accuracy. RF found 88 of 99 and missed 11; LR found 87 and missed 12, with 23 false alarms vs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and the Hive/Spark analytics agree on the drivers: ST slope, asymptomatic chest pain, exercise angina.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HBase stores predicted risk by row key. P0004 is a real missed case from the test set. Keys are demo IDs: dataset has no patient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Analytics and model agree: flat or down ST slope, asymptomatic chest pain, exercise angina, older age and male sex are most associated with disease. Be honest about limitations.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E3B3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FB7A8"/>
                </a:solidFill>
              </a:rPr>
              <a:t>BIG DATA ANALYTICS CAPSTONE  ·  HCL GUVI × JAIN UNIVERSITY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Analytics &amp; Disease Prediction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B134"/>
                </a:solidFill>
              </a:rPr>
              <a:t>Heart Disease Risk Analytics Pipeline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D6CE"/>
                </a:solidFill>
              </a:rPr>
              <a:t>HDFS  ·  Hive  ·  Spark MLlib  ·  YARN  ·  HBase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FB7A8"/>
                </a:solidFill>
              </a:rPr>
              <a:t>PRESENTED BY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Himani Tuli · Akash · Anshuman · Aditya · Maulik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675120" y="1097280"/>
            <a:ext cx="2011680" cy="201168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1417320"/>
            <a:ext cx="1371600" cy="1371600"/>
          </a:xfrm>
          <a:prstGeom prst="ellipse">
            <a:avLst/>
          </a:prstGeom>
          <a:solidFill>
            <a:srgbClr val="0E3B3F"/>
          </a:solidFill>
          <a:ln w="25400">
            <a:solidFill>
              <a:srgbClr val="7FB7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95160" y="14173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WHY IT MATTERS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Why heart disease risk analytics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7830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2C"/>
                </a:solidFill>
              </a:rPr>
              <a:t>Hospitals hold huge volumes of patient records, yet high-risk patients are often found late. Cardiovascular disease is a leading cause of death worldwide.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291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</a:rPr>
              <a:t>THE OBJECTIVE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5661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B2C"/>
                </a:solidFill>
              </a:rPr>
              <a:t>Store, analyse and model patient data at scale to find risk factors and flag high-risk patients early.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</a:rPr>
              <a:t>WHAT THE RESULTS SUPPORT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17720" y="1792224"/>
            <a:ext cx="457200" cy="45720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1772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C"/>
                </a:solidFill>
              </a:rPr>
              <a:t>High-risk age / sex groups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257800" y="2029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F70"/>
                </a:solidFill>
              </a:rPr>
              <a:t>Prioritise screening campaigns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617720" y="2523744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523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257800" y="2468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C"/>
                </a:solidFill>
              </a:rPr>
              <a:t>Strong symptom indicators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257800" y="2761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F70"/>
                </a:solidFill>
              </a:rPr>
              <a:t>Add to triage checklists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617720" y="3255264"/>
            <a:ext cx="457200" cy="45720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1772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257800" y="3200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C"/>
                </a:solidFill>
              </a:rPr>
              <a:t>Most predictive features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257800" y="3493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F70"/>
                </a:solidFill>
              </a:rPr>
              <a:t>Focus data collection on key tests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617720" y="3986784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17720" y="3986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257800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C"/>
                </a:solidFill>
              </a:rPr>
              <a:t>Predicted high-risk patients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257800" y="4224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F70"/>
                </a:solidFill>
              </a:rPr>
              <a:t>Refer to cardiology follow-up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DATA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Dataset and data quality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17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918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F70"/>
                </a:solidFill>
              </a:rPr>
              <a:t>raw patient records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78608" y="13716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78608" y="1417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2578608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F70"/>
                </a:solidFill>
              </a:rPr>
              <a:t>columns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608576" y="13716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08576" y="1417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917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4608576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F70"/>
                </a:solidFill>
              </a:rPr>
              <a:t>records after cleaning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38544" y="13716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38544" y="1417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55.29%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F70"/>
                </a:solidFill>
              </a:rPr>
              <a:t>have heart disease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</a:rPr>
              <a:t>DATA-QUALITY ISSUES HANDLED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306324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Cholesterol = 0 is impossible: imputed with median 237.0 and flagged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RestingBP = 0: one record removed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Duplicates checked and dropped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754880" y="2743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</a:rPr>
              <a:t>FEATURES AND TARGET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754880" y="306324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11 features: 6 numeric, 5 categorical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Target HeartDisease: 1 = disease, 0 = normal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Public Kaggle / UCI file heart.csv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End-to-end Big Data architecture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1463040" cy="914400"/>
          </a:xfrm>
          <a:prstGeom prst="roundRect">
            <a:avLst>
              <a:gd name="adj" fmla="val 12000"/>
            </a:avLst>
          </a:prstGeom>
          <a:solidFill>
            <a:srgbClr val="0E3B3F"/>
          </a:solidFill>
          <a:ln w="12700">
            <a:solidFill>
              <a:srgbClr val="0E3B3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146304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heart.csv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patient records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651760" y="219456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651760" y="2194560"/>
            <a:ext cx="164592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HDFS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raw/ processed/ results/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937760" y="1371600"/>
            <a:ext cx="1554480" cy="731520"/>
          </a:xfrm>
          <a:prstGeom prst="roundRect">
            <a:avLst>
              <a:gd name="adj" fmla="val 15000"/>
            </a:avLst>
          </a:prstGeom>
          <a:solidFill>
            <a:srgbClr val="7FB7A8"/>
          </a:solidFill>
          <a:ln w="12700">
            <a:solidFill>
              <a:srgbClr val="7FB7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B2C"/>
                </a:solidFill>
              </a:rPr>
              <a:t>Hive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B2C"/>
                </a:solidFill>
              </a:rPr>
              <a:t>SQL analytics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937760" y="2286000"/>
            <a:ext cx="1554480" cy="731520"/>
          </a:xfrm>
          <a:prstGeom prst="roundRect">
            <a:avLst>
              <a:gd name="adj" fmla="val 15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Spark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clean, analyse, MLlib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37760" y="3200400"/>
            <a:ext cx="1554480" cy="731520"/>
          </a:xfrm>
          <a:prstGeom prst="roundRect">
            <a:avLst>
              <a:gd name="adj" fmla="val 15000"/>
            </a:avLst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37760" y="3200400"/>
            <a:ext cx="15544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B2C"/>
                </a:solidFill>
              </a:rPr>
              <a:t>HBase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B2C"/>
                </a:solidFill>
              </a:rPr>
              <a:t>risk-score lookup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132320" y="2194560"/>
            <a:ext cx="1463040" cy="914400"/>
          </a:xfrm>
          <a:prstGeom prst="roundRect">
            <a:avLst>
              <a:gd name="adj" fmla="val 12000"/>
            </a:avLst>
          </a:prstGeom>
          <a:solidFill>
            <a:srgbClr val="0E3B3F"/>
          </a:solidFill>
          <a:ln w="12700">
            <a:solidFill>
              <a:srgbClr val="0E3B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32320" y="2194560"/>
            <a:ext cx="146304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Results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insights + metrics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011680" y="2651760"/>
            <a:ext cx="640080" cy="0"/>
          </a:xfrm>
          <a:prstGeom prst="line">
            <a:avLst/>
          </a:prstGeom>
          <a:noFill/>
          <a:ln w="19050">
            <a:solidFill>
              <a:srgbClr val="5B6F70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V="1">
            <a:off x="4297680" y="1737360"/>
            <a:ext cx="640080" cy="914400"/>
          </a:xfrm>
          <a:prstGeom prst="line">
            <a:avLst/>
          </a:prstGeom>
          <a:noFill/>
          <a:ln w="19050">
            <a:solidFill>
              <a:srgbClr val="5B6F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97680" y="2651760"/>
            <a:ext cx="640080" cy="0"/>
          </a:xfrm>
          <a:prstGeom prst="line">
            <a:avLst/>
          </a:prstGeom>
          <a:noFill/>
          <a:ln w="19050">
            <a:solidFill>
              <a:srgbClr val="5B6F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297680" y="2651760"/>
            <a:ext cx="640080" cy="914400"/>
          </a:xfrm>
          <a:prstGeom prst="line">
            <a:avLst/>
          </a:prstGeom>
          <a:noFill/>
          <a:ln w="19050">
            <a:solidFill>
              <a:srgbClr val="5B6F7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6492240" y="2651760"/>
            <a:ext cx="640080" cy="0"/>
          </a:xfrm>
          <a:prstGeom prst="line">
            <a:avLst/>
          </a:prstGeom>
          <a:noFill/>
          <a:ln w="19050">
            <a:solidFill>
              <a:srgbClr val="5B6F70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48640" y="41148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4114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C"/>
                </a:solidFill>
              </a:rPr>
              <a:t>YARN manages cluster resources. Built to scale: same pipeline for millions of records using Parquet, Hive partitions and more Spark workers.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EVIDENCE · ENVIRONMENT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Big Data stack running in Docker</a:t>
            </a:r>
            <a:endParaRPr lang="en-US" sz="3000" dirty="0"/>
          </a:p>
        </p:txBody>
      </p:sp>
      <p:pic>
        <p:nvPicPr>
          <p:cNvPr id="4" name="Image 0" descr="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394960" cy="2707487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13258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</a:rPr>
              <a:t>WHAT IT SHOWS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783080"/>
            <a:ext cx="2057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Project bigdata with 13 containers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Green: Jupyter, Spark master and worker, HBase, Hive, YARN, DataNode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pig is stopped (not used in this run)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STORAGE &amp; SQL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HDFS storage and Hive SQL layer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840480" cy="3200400"/>
          </a:xfrm>
          <a:prstGeom prst="roundRect">
            <a:avLst>
              <a:gd name="adj" fmla="val 3429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</a:rPr>
              <a:t>HDFS: DISTRIBUTED STORAGE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810512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E3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/data/healthcare/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E3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raw/         heart.csv (35.9 kB)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E3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processed/   heart_clean (Parquet)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E3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results/     rate_by_*, rf_predictions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7180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Loaded with docker cp, then hdfs dfs -put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Verified with -ls, -du and fsck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Separate zones for raw, cleaned and output data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0" y="1371600"/>
            <a:ext cx="4023360" cy="3200400"/>
          </a:xfrm>
          <a:prstGeom prst="roundRect">
            <a:avLst>
              <a:gd name="adj" fmla="val 3429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1508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</a:rPr>
              <a:t>HIVE: SQL OVER THE SAME FILES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1828800"/>
            <a:ext cx="36118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External table on /data/healthcare/raw (schema-on-read, header skipped)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9 queries: prevalence, rates by sex, age, chest pain, angina x ST slope, zero-value checks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Window function: RANK() OVER (PARTITION BY sex)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C"/>
                </a:solidFill>
              </a:rPr>
              <a:t>Summary saved as managed table chest_pain_summary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EVIDENCE · HDFS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HDFS load verified in the terminal</a:t>
            </a:r>
            <a:endParaRPr lang="en-US" sz="3000" dirty="0"/>
          </a:p>
        </p:txBody>
      </p:sp>
      <p:pic>
        <p:nvPicPr>
          <p:cNvPr id="4" name="Image 0" descr="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8046720" cy="14987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108960"/>
            <a:ext cx="8046720" cy="1508760"/>
          </a:xfrm>
          <a:prstGeom prst="roundRect">
            <a:avLst>
              <a:gd name="adj" fmla="val 7273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3218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</a:rPr>
              <a:t>WHAT IT SHOWS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52044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docker cp copied the dataset (35.9 kB) into the namenode container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Hadoop 3.2.1 hdfs created /data/healthcare/raw; put reported File exists, so it was already loaded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-ls lists heart.csv, 35,921 bytes, in /data/healthcare/raw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PROCESSING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Spark: clean, derive, analyse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1481328" cy="2468880"/>
          </a:xfrm>
          <a:prstGeom prst="roundRect">
            <a:avLst>
              <a:gd name="adj" fmla="val 7407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057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2C"/>
                </a:solidFill>
              </a:rPr>
              <a:t>Read &amp; profile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37744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F70"/>
                </a:solidFill>
              </a:rPr>
              <a:t>CSV from hdfs://namenode:8020 with inferSchema; null, duplicate, zero checks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176272" y="1371600"/>
            <a:ext cx="1481328" cy="2468880"/>
          </a:xfrm>
          <a:prstGeom prst="roundRect">
            <a:avLst>
              <a:gd name="adj" fmla="val 7407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13432" y="1508760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1343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313432" y="2057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2C"/>
                </a:solidFill>
              </a:rPr>
              <a:t>Clean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313432" y="237744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F70"/>
                </a:solidFill>
              </a:rPr>
              <a:t>Drop duplicates, remove RestingBP = 0, impute cholesterol median 237.0 with a flag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803904" y="1371600"/>
            <a:ext cx="1481328" cy="2468880"/>
          </a:xfrm>
          <a:prstGeom prst="roundRect">
            <a:avLst>
              <a:gd name="adj" fmla="val 7407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941064" y="1508760"/>
            <a:ext cx="457200" cy="45720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94106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941064" y="2057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2C"/>
                </a:solidFill>
              </a:rPr>
              <a:t>Derive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941064" y="237744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F70"/>
                </a:solidFill>
              </a:rPr>
              <a:t>age_group, chol_category and bp_category columns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31536" y="1371600"/>
            <a:ext cx="1481328" cy="2468880"/>
          </a:xfrm>
          <a:prstGeom prst="roundRect">
            <a:avLst>
              <a:gd name="adj" fmla="val 7407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68696" y="1508760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6869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568696" y="2057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2C"/>
                </a:solidFill>
              </a:rPr>
              <a:t>Analyse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68696" y="237744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F70"/>
                </a:solidFill>
              </a:rPr>
              <a:t>Patients, cases and disease % for 7 factors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059168" y="1371600"/>
            <a:ext cx="1481328" cy="2468880"/>
          </a:xfrm>
          <a:prstGeom prst="roundRect">
            <a:avLst>
              <a:gd name="adj" fmla="val 7407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196328" y="1508760"/>
            <a:ext cx="457200" cy="45720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19632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196328" y="2057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2C"/>
                </a:solidFill>
              </a:rPr>
              <a:t>Persist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96328" y="2377440"/>
            <a:ext cx="1234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F70"/>
                </a:solidFill>
              </a:rPr>
              <a:t>Parquet to processed/; rate tables and predictions to results/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402336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0E3B3F"/>
          </a:solidFill>
          <a:ln w="12700">
            <a:solidFill>
              <a:srgbClr val="0E3B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40233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</a:rPr>
              <a:t>Performance: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cache() on the cleaned data, repartition(4) on write, explain() for the physical plan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EVIDENCE · SPARK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Spark output and execution plan</a:t>
            </a:r>
            <a:endParaRPr lang="en-US" sz="3000" dirty="0"/>
          </a:p>
        </p:txBody>
      </p:sp>
      <p:pic>
        <p:nvPicPr>
          <p:cNvPr id="4" name="Image 0" descr="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132320" cy="303112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INSIGHT 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Risk rises with age and is higher in men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258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5943600" y="1371600"/>
            <a:ext cx="2651760" cy="960120"/>
          </a:xfrm>
          <a:prstGeom prst="roundRect">
            <a:avLst>
              <a:gd name="adj" fmla="val 11429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126480" y="14447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55.29%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612648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F70"/>
                </a:solidFill>
              </a:rPr>
              <a:t>of all 917 patients: 507 with disease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943600" y="2468880"/>
            <a:ext cx="2651760" cy="960120"/>
          </a:xfrm>
          <a:prstGeom prst="roundRect">
            <a:avLst>
              <a:gd name="adj" fmla="val 11429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126480" y="25420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63.12%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612648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F70"/>
                </a:solidFill>
              </a:rPr>
              <a:t>of men (724 patients)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943600" y="3566160"/>
            <a:ext cx="2651760" cy="960120"/>
          </a:xfrm>
          <a:prstGeom prst="roundRect">
            <a:avLst>
              <a:gd name="adj" fmla="val 11429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126480" y="36393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25.91%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6126480" y="4114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F70"/>
                </a:solidFill>
              </a:rPr>
              <a:t>of women (193 patients)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INSIGHT 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Symptoms and ECG findings separate risk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2588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71600"/>
            <a:ext cx="2377440" cy="3200400"/>
          </a:xfrm>
          <a:prstGeom prst="roundRect">
            <a:avLst>
              <a:gd name="adj" fmla="val 4615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</a:rPr>
              <a:t>READING THE CHART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400800" y="182880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Coral: high-risk findings; green: low-risk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Asymptomatic chest pain is riskiest, not typical angina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BP and cholesterol show weaker, non-linear patterns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INSIGHT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Cholesterol and BP: weaker signals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25880"/>
          <a:ext cx="39319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023360"/>
            <a:ext cx="3931920" cy="548640"/>
          </a:xfrm>
          <a:prstGeom prst="roundRect">
            <a:avLst>
              <a:gd name="adj" fmla="val 20000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31520" y="4023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C"/>
                </a:solidFill>
              </a:rPr>
              <a:t>146 / 408 / 363 patients (Normal / Borderline / High)</a:t>
            </a:r>
            <a:endParaRPr lang="en-US" sz="12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663440" y="1325880"/>
          <a:ext cx="39319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4"/>
          <p:cNvSpPr/>
          <p:nvPr/>
        </p:nvSpPr>
        <p:spPr>
          <a:xfrm>
            <a:off x="4663440" y="4023360"/>
            <a:ext cx="3931920" cy="548640"/>
          </a:xfrm>
          <a:prstGeom prst="roundRect">
            <a:avLst>
              <a:gd name="adj" fmla="val 20000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846320" y="4023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C"/>
                </a:solidFill>
              </a:rPr>
              <a:t>160 / 430 / 327 patients (Normal / Elevated / High)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EVIDENCE · SPARK ANALYTICS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Disease-rate tables from our PySpark run</a:t>
            </a:r>
            <a:endParaRPr lang="en-US" sz="3000" dirty="0"/>
          </a:p>
        </p:txBody>
      </p:sp>
      <p:pic>
        <p:nvPicPr>
          <p:cNvPr id="4" name="Image 0" descr="imag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852869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75829" y="1325880"/>
            <a:ext cx="4919531" cy="3200400"/>
          </a:xfrm>
          <a:prstGeom prst="roundRect">
            <a:avLst>
              <a:gd name="adj" fmla="val 3429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904429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</a:rPr>
              <a:t>KEY READINGS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904429" y="1783080"/>
            <a:ext cx="4508051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Sex: men 63.12%, women 25.91%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Age: 32.50% under 40 rising to 73.12% at 60+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Chest pain: ASY 79.03%, ATA 13.87%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Exercise angina Yes 85.18%; ST slope Flat 82.79%, Up 19.75%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Cholesterol and BP: weaker, non-linear patterns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PREDICTION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Random Forest beats Logistic Regression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2588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71600"/>
            <a:ext cx="2377440" cy="3200400"/>
          </a:xfrm>
          <a:prstGeom prst="roundRect">
            <a:avLst>
              <a:gd name="adj" fmla="val 4615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</a:rPr>
              <a:t>ML PIPELINE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400800" y="182880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StringIndexer, OneHotEncoder, VectorAssembler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80/20 split, seed 42: 728 train, 189 test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Random Forest: 100 trees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Random Forest wins on every metric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PREDICTION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Where the models err: confusion matrices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C"/>
                </a:solidFill>
              </a:rPr>
              <a:t>Logistic Regression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6459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F70"/>
                </a:solidFill>
              </a:rPr>
              <a:t>Predicted normal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16459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F70"/>
                </a:solidFill>
              </a:rPr>
              <a:t>Predicted disease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6596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F70"/>
                </a:solidFill>
              </a:rPr>
              <a:t>Actual normal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97180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F70"/>
                </a:solidFill>
              </a:rPr>
              <a:t>Actual disease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645920" y="196596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7FB7A8"/>
          </a:solidFill>
          <a:ln w="12700">
            <a:solidFill>
              <a:srgbClr val="7FB7A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645920" y="19659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B2C"/>
                </a:solidFill>
              </a:rPr>
              <a:t>true negative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3017520" y="196596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17520" y="19659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B2C"/>
                </a:solidFill>
              </a:rPr>
              <a:t>false alarm</a:t>
            </a:r>
            <a:endParaRPr lang="en-US" sz="2600" dirty="0"/>
          </a:p>
        </p:txBody>
      </p:sp>
      <p:sp>
        <p:nvSpPr>
          <p:cNvPr id="14" name="Shape 11"/>
          <p:cNvSpPr/>
          <p:nvPr/>
        </p:nvSpPr>
        <p:spPr>
          <a:xfrm>
            <a:off x="1645920" y="297180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645920" y="29718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missed case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3017520" y="297180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29718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2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true positive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114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</a:rPr>
              <a:t>Disease recall  87 / 99 = 0.879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488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C"/>
                </a:solidFill>
              </a:rPr>
              <a:t>Random Forest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852160" y="16459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F70"/>
                </a:solidFill>
              </a:rPr>
              <a:t>Predicted normal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16459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F70"/>
                </a:solidFill>
              </a:rPr>
              <a:t>Predicted disease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754880" y="196596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F70"/>
                </a:solidFill>
              </a:rPr>
              <a:t>Actual normal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754880" y="297180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F70"/>
                </a:solidFill>
              </a:rPr>
              <a:t>Actual disease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852160" y="196596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7FB7A8"/>
          </a:solidFill>
          <a:ln w="12700">
            <a:solidFill>
              <a:srgbClr val="7FB7A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2160" y="19659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2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B2C"/>
                </a:solidFill>
              </a:rPr>
              <a:t>true negative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7223760" y="196596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23760" y="19659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B2C"/>
                </a:solidFill>
              </a:rPr>
              <a:t>false alarm</a:t>
            </a:r>
            <a:endParaRPr lang="en-US" sz="2600" dirty="0"/>
          </a:p>
        </p:txBody>
      </p:sp>
      <p:sp>
        <p:nvSpPr>
          <p:cNvPr id="28" name="Shape 25"/>
          <p:cNvSpPr/>
          <p:nvPr/>
        </p:nvSpPr>
        <p:spPr>
          <a:xfrm>
            <a:off x="5852160" y="297180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852160" y="29718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missed case</a:t>
            </a:r>
            <a:endParaRPr lang="en-US" sz="2600" dirty="0"/>
          </a:p>
        </p:txBody>
      </p:sp>
      <p:sp>
        <p:nvSpPr>
          <p:cNvPr id="30" name="Shape 27"/>
          <p:cNvSpPr/>
          <p:nvPr/>
        </p:nvSpPr>
        <p:spPr>
          <a:xfrm>
            <a:off x="7223760" y="2971800"/>
            <a:ext cx="1280160" cy="914400"/>
          </a:xfrm>
          <a:prstGeom prst="roundRect">
            <a:avLst>
              <a:gd name="adj" fmla="val 1000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223760" y="29718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2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true positive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4754880" y="4114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B"/>
                </a:solidFill>
              </a:rPr>
              <a:t>Disease recall  88 / 99 = 0.889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EXPLAINABILITY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What drives the Random Forest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25880"/>
          <a:ext cx="539496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71600"/>
            <a:ext cx="2377440" cy="3200400"/>
          </a:xfrm>
          <a:prstGeom prst="roundRect">
            <a:avLst>
              <a:gd name="adj" fmla="val 4615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400800" y="182880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ST slope is the strongest signal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Asymptomatic chest pain ranks third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Exercise angina and oldpeak follow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Model agrees with Hive and Spark analytics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SERVING LAYER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HBase risk lookup and component roles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4206240" cy="3200400"/>
          </a:xfrm>
          <a:prstGeom prst="roundRect">
            <a:avLst>
              <a:gd name="adj" fmla="val 3429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</a:rPr>
              <a:t>HBASE: PATIENT_RISK TABLE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783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F70"/>
                </a:solidFill>
              </a:rPr>
              <a:t>Column families info and risk; two real Random Forest test predictions loaded.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377440"/>
          <a:ext cx="3749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64008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 M, ASY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E7C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(correct)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 M, ASY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(missed)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77240" y="37490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B2B2C"/>
                </a:solidFill>
              </a:rPr>
              <a:t>Row-key lookup is what HBase is built for; Hive and plain files are not.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029200" y="1371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</a:rPr>
              <a:t>HOW THE PIECES FIT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029200" y="1719072"/>
            <a:ext cx="914400" cy="411480"/>
          </a:xfrm>
          <a:prstGeom prst="roundRect">
            <a:avLst>
              <a:gd name="adj" fmla="val 22222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0" y="17190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HDFS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080760" y="17190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C"/>
                </a:solidFill>
              </a:rPr>
              <a:t>stores raw, cleaned and result data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0" y="2295144"/>
            <a:ext cx="914400" cy="411480"/>
          </a:xfrm>
          <a:prstGeom prst="roundRect">
            <a:avLst>
              <a:gd name="adj" fmla="val 22222"/>
            </a:avLst>
          </a:prstGeom>
          <a:solidFill>
            <a:srgbClr val="7FB7A8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0" y="229514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B2C"/>
                </a:solidFill>
              </a:rPr>
              <a:t>Hive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080760" y="2295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C"/>
                </a:solidFill>
              </a:rPr>
              <a:t>SQL analytics over the files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29200" y="2871216"/>
            <a:ext cx="914400" cy="411480"/>
          </a:xfrm>
          <a:prstGeom prst="roundRect">
            <a:avLst>
              <a:gd name="adj" fmla="val 22222"/>
            </a:avLst>
          </a:prstGeom>
          <a:solidFill>
            <a:srgbClr val="E4572E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29200" y="287121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Spark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080760" y="28712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C"/>
                </a:solidFill>
              </a:rPr>
              <a:t>cleaning, aggregation and MLlib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029200" y="3447288"/>
            <a:ext cx="914400" cy="411480"/>
          </a:xfrm>
          <a:prstGeom prst="roundRect">
            <a:avLst>
              <a:gd name="adj" fmla="val 22222"/>
            </a:avLst>
          </a:prstGeom>
          <a:solidFill>
            <a:srgbClr val="F2B134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029200" y="34472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B2C"/>
                </a:solidFill>
              </a:rPr>
              <a:t>YARN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344728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C"/>
                </a:solidFill>
              </a:rPr>
              <a:t>resource management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029200" y="4023360"/>
            <a:ext cx="914400" cy="411480"/>
          </a:xfrm>
          <a:prstGeom prst="roundRect">
            <a:avLst>
              <a:gd name="adj" fmla="val 22222"/>
            </a:avLst>
          </a:prstGeom>
          <a:solidFill>
            <a:srgbClr val="0E3B3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29200" y="40233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HBase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080760" y="40233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C"/>
                </a:solidFill>
              </a:rPr>
              <a:t>fast risk-score lookup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572E"/>
                </a:solidFill>
              </a:rPr>
              <a:t>WRAP-UP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B3F"/>
                </a:solidFill>
              </a:rPr>
              <a:t>Conclusions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0E3B3F"/>
          </a:solidFill>
          <a:ln w="12700">
            <a:solidFill>
              <a:srgbClr val="0E3B3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17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0.905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57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AUC, Random Forest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137160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0E3B3F"/>
          </a:solidFill>
          <a:ln w="12700">
            <a:solidFill>
              <a:srgbClr val="0E3B3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417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84.7%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3291840" y="2057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test accuracy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35040" y="137160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0E3B3F"/>
          </a:solidFill>
          <a:ln w="12700">
            <a:solidFill>
              <a:srgbClr val="0E3B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1417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of 99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2057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disease cases found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2697480"/>
            <a:ext cx="3931920" cy="1920240"/>
          </a:xfrm>
          <a:prstGeom prst="roundRect">
            <a:avLst>
              <a:gd name="adj" fmla="val 5714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163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4572E"/>
                </a:solidFill>
              </a:rPr>
              <a:t>LIMITATIONS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127248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Small single-source data: 917 rows, 79% male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Imputed cholesterol all lands in Borderline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One split, no clinical validation: a prototype, not a diagnosis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2697480"/>
            <a:ext cx="3931920" cy="1920240"/>
          </a:xfrm>
          <a:prstGeom prst="roundRect">
            <a:avLst>
              <a:gd name="adj" fmla="val 5714"/>
            </a:avLst>
          </a:prstGeom>
          <a:solidFill>
            <a:srgbClr val="EEF5F3"/>
          </a:solidFill>
          <a:ln w="12700">
            <a:solidFill>
              <a:srgbClr val="EEF5F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92040" y="28163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3127248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Larger EHR data such as CDC BRFSS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Hive partitioning and cross-validation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B2C"/>
                </a:solidFill>
              </a:rPr>
              <a:t>Threshold tuning to raise recall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F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560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B134"/>
                </a:solidFill>
              </a:rPr>
              <a:t>Healthcare Analytics &amp; Disease Prediction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D6CE"/>
                </a:solidFill>
              </a:rPr>
              <a:t>Himani Tuli  ·  Akash  ·  Anshuman  ·  Aditya  ·  Maulik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nical Teal">
  <a:themeElements>
    <a:clrScheme name="Clinical Teal">
      <a:dk1>
        <a:srgbClr val="1B2B2C"/>
      </a:dk1>
      <a:lt1>
        <a:srgbClr val="FFFFFF"/>
      </a:lt1>
      <a:dk2>
        <a:srgbClr val="0E3B3F"/>
      </a:dk2>
      <a:lt2>
        <a:srgbClr val="EEF5F3"/>
      </a:lt2>
      <a:accent1>
        <a:srgbClr val="0E7C7B"/>
      </a:accent1>
      <a:accent2>
        <a:srgbClr val="E4572E"/>
      </a:accent2>
      <a:accent3>
        <a:srgbClr val="F2B134"/>
      </a:accent3>
      <a:accent4>
        <a:srgbClr val="7FB7A8"/>
      </a:accent4>
      <a:accent5>
        <a:srgbClr val="5B6F70"/>
      </a:accent5>
      <a:accent6>
        <a:srgbClr val="B7D6CE"/>
      </a:accent6>
      <a:hlink>
        <a:srgbClr val="0E7C7B"/>
      </a:hlink>
      <a:folHlink>
        <a:srgbClr val="5B6F70"/>
      </a:folHlink>
    </a:clrScheme>
    <a:fontScheme name="Clinical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Analytics &amp; Disease Prediction</dc:title>
  <dc:subject>PptxGenJS Presentation</dc:subject>
  <dc:creator>PptxGenJS</dc:creator>
  <cp:lastModifiedBy>PptxGenJS</cp:lastModifiedBy>
  <cp:revision>1</cp:revision>
  <dcterms:created xsi:type="dcterms:W3CDTF">2026-10-06T15:33:31Z</dcterms:created>
  <dcterms:modified xsi:type="dcterms:W3CDTF">2026-10-06T15:33:31Z</dcterms:modified>
</cp:coreProperties>
</file>